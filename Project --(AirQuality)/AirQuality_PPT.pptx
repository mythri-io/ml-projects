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0343A"/>
                </a:solidFill>
                <a:latin typeface="Calibri"/>
              </a:defRPr>
            </a:pPr>
            <a:r>
              <a:rPr sz="1300" b="0" i="0" u="none" strike="noStrike">
                <a:solidFill>
                  <a:srgbClr val="20343A"/>
                </a:solidFill>
                <a:latin typeface="Calibri"/>
              </a:rPr>
              <a:t>Feature Importance Scores (Illustrative)</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4F8A99"/>
            </a:solidFill>
            <a:effectLst/>
          </c:spPr>
          <c:invertIfNegative val="0"/>
          <c:dLbls>
            <c:numFmt formatCode="0.00" sourceLinked="0"/>
            <c:txPr>
              <a:bodyPr/>
              <a:lstStyle/>
              <a:p>
                <a:pPr>
                  <a:defRPr b="0" i="0" strike="noStrike" sz="1000" u="none">
                    <a:solidFill>
                      <a:srgbClr val="20343A"/>
                    </a:solidFill>
                    <a:latin typeface="Arial"/>
                  </a:defRPr>
                </a:pPr>
              </a:p>
            </c:txPr>
            <c:showLegendKey val="0"/>
            <c:showVal val="1"/>
            <c:showCatName val="0"/>
            <c:showSerName val="0"/>
            <c:showPercent val="0"/>
            <c:showBubbleSize val="0"/>
            <c:showLeaderLines val="0"/>
          </c:dLbls>
          <c:cat>
            <c:multiLvlStrRef>
              <c:f>Sheet1!$A$2:$A$8</c:f>
              <c:multiLvlStrCache>
                <c:ptCount val="7"/>
                <c:lvl>
                  <c:pt idx="0">
                    <c:v>Wind Speed</c:v>
                  </c:pt>
                  <c:pt idx="1">
                    <c:v>Humidity</c:v>
                  </c:pt>
                  <c:pt idx="2">
                    <c:v>Temperature</c:v>
                  </c:pt>
                  <c:pt idx="3">
                    <c:v>CO</c:v>
                  </c:pt>
                  <c:pt idx="4">
                    <c:v>NO₂</c:v>
                  </c:pt>
                  <c:pt idx="5">
                    <c:v>PM10</c:v>
                  </c:pt>
                  <c:pt idx="6">
                    <c:v>PM2.5</c:v>
                  </c:pt>
                </c:lvl>
              </c:multiLvlStrCache>
            </c:multiLvlStrRef>
          </c:cat>
          <c:val>
            <c:numRef>
              <c:f>Sheet1!$B$2:$B$8</c:f>
              <c:numCache>
                <c:formatCode>General</c:formatCode>
                <c:ptCount val="7"/>
                <c:pt idx="0">
                  <c:v>0.06</c:v>
                </c:pt>
                <c:pt idx="1">
                  <c:v>0.08</c:v>
                </c:pt>
                <c:pt idx="2">
                  <c:v>0.11</c:v>
                </c:pt>
                <c:pt idx="3">
                  <c:v>0.13</c:v>
                </c:pt>
                <c:pt idx="4">
                  <c:v>0.15</c:v>
                </c:pt>
                <c:pt idx="5">
                  <c:v>0.2</c:v>
                </c:pt>
                <c:pt idx="6">
                  <c:v>0.27</c:v>
                </c:pt>
              </c:numCache>
            </c:numRef>
          </c:val>
        </c:ser>
        <c:dLbls>
          <c:numFmt formatCode="0.00" sourceLinked="0"/>
          <c:txPr>
            <a:bodyPr/>
            <a:lstStyle/>
            <a:p>
              <a:pPr>
                <a:defRPr b="0" i="0" strike="noStrike" sz="1000" u="none">
                  <a:solidFill>
                    <a:srgbClr val="20343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0343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9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73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Our project is titled 'Feature Importance Analysis for Air Quality Prediction Using Random Forest.' We're Darahasini D and Mythri R. We'll walk you through the problem, our approach, and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quality prediction uses machine learning to estimate pollution levels from measurable environmental data instead of relying only on manual monitoring. This matters because air pollution has a direct impact on public health. Since pollutant levels depend on many interacting factors, machine learning models like Random Forest are well suited to learn these complex relationships and tell us which factors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predict air quality using machine learning, use weather and pollutant readings as input, build and train a Random Forest model, identify which features most influence air quality, rank those features by importance, and finally evaluate how well the model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input consists of measurable pollutant and weather data — PM2.5, PM10, NO2, SO2, CO, ozone, temperature, humidity, and wind speed — and the output is the predicted air quality. At a high level, the pipeline is simple: this data feeds into a Random Forest model, which produces a quality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overall system flow. We start with the dataset, preprocess and clean it, split it into training and testing sets, then train our Random Forest model. We extract feature importance scores from the trained model, and finally evaluate its prediction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Random Forest is an ensemble of many decision trees, each trained on a random subset of the data and features. Their combined votes give a more robust prediction than any single tree, which reduces overfitting. We chose Random Forest here because it handles non-linear relationships well, naturally produces feature importance scores, and is robust to noisy sensor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ranks each feature by how much it reduces impurity, on average, across all the trees in the forest — this is called Mean Decrease in Impurity. The chart shows the expected shape of the result, with PM2.5 and PM10 typically dominating. You should replace these illustrative values with the actual scores from your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evaluation metrics for our model — R-squared, RMSE, MAE, and accuracy — replace the placeholders with your actual results. The key takeaway is that pollutant concentrations like PM2.5 and PM10 tend to be the strongest predictors, and Random Forest gives us both good accuracy and an interpretable ranking of which factors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Random Forest successfully predicts air quality from pollutant and weather data, and its feature importance analysis identifies PM2.5 and PM10 as the leading contributors. This makes the model both accurate and interpretable. For future work, we could extend this to more locations, compare against XGBoost or LightGBM, and deploy it as a real-time monitoring dashboard. Thank you,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8.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2.png"/><Relationship Id="rId8" Type="http://schemas.openxmlformats.org/officeDocument/2006/relationships/image" Target="../media/image-5-8.png"/><Relationship Id="rId9" Type="http://schemas.openxmlformats.org/officeDocument/2006/relationships/image" Target="../media/image-5-2.png"/><Relationship Id="rId10" Type="http://schemas.openxmlformats.org/officeDocument/2006/relationships/image" Target="../media/image-5-10.png"/><Relationship Id="rId11" Type="http://schemas.openxmlformats.org/officeDocument/2006/relationships/image" Target="../media/image-5-2.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33D"/>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4F8A99">
              <a:alpha val="20000"/>
            </a:srgbClr>
          </a:solidFill>
          <a:ln/>
        </p:spPr>
      </p:sp>
      <p:sp>
        <p:nvSpPr>
          <p:cNvPr id="3" name="Shape 1"/>
          <p:cNvSpPr/>
          <p:nvPr/>
        </p:nvSpPr>
        <p:spPr>
          <a:xfrm>
            <a:off x="-1280160" y="4937760"/>
            <a:ext cx="3657600" cy="3657600"/>
          </a:xfrm>
          <a:prstGeom prst="ellipse">
            <a:avLst/>
          </a:prstGeom>
          <a:solidFill>
            <a:srgbClr val="E8873A">
              <a:alpha val="12000"/>
            </a:srgbClr>
          </a:solidFill>
          <a:ln/>
        </p:spPr>
      </p:sp>
      <p:sp>
        <p:nvSpPr>
          <p:cNvPr id="4" name="Shape 2"/>
          <p:cNvSpPr/>
          <p:nvPr/>
        </p:nvSpPr>
        <p:spPr>
          <a:xfrm>
            <a:off x="822960" y="868680"/>
            <a:ext cx="960120" cy="960120"/>
          </a:xfrm>
          <a:prstGeom prst="ellipse">
            <a:avLst/>
          </a:prstGeom>
          <a:solidFill>
            <a:srgbClr val="4F8A99"/>
          </a:solidFill>
          <a:ln/>
        </p:spPr>
      </p:sp>
      <p:pic>
        <p:nvPicPr>
          <p:cNvPr id="5" name="Image 0" descr="/home/claude/icons/smog_w.png">    </p:cNvPr>
          <p:cNvPicPr>
            <a:picLocks noChangeAspect="1"/>
          </p:cNvPicPr>
          <p:nvPr/>
        </p:nvPicPr>
        <p:blipFill>
          <a:blip r:embed="rId1"/>
          <a:stretch>
            <a:fillRect/>
          </a:stretch>
        </p:blipFill>
        <p:spPr>
          <a:xfrm>
            <a:off x="1072591" y="1118311"/>
            <a:ext cx="460858" cy="460858"/>
          </a:xfrm>
          <a:prstGeom prst="rect">
            <a:avLst/>
          </a:prstGeom>
        </p:spPr>
      </p:pic>
      <p:sp>
        <p:nvSpPr>
          <p:cNvPr id="6" name="Text 3"/>
          <p:cNvSpPr txBox="1"/>
          <p:nvPr/>
        </p:nvSpPr>
        <p:spPr>
          <a:xfrm>
            <a:off x="822960" y="2148840"/>
            <a:ext cx="7315200" cy="365760"/>
          </a:xfrm>
          <a:prstGeom prst="rect">
            <a:avLst/>
          </a:prstGeom>
          <a:noFill/>
          <a:ln/>
        </p:spPr>
        <p:txBody>
          <a:bodyPr wrap="square" lIns="0" tIns="0" rIns="0" bIns="0" rtlCol="0" anchor="ctr"/>
          <a:lstStyle/>
          <a:p>
            <a:pPr algn="l" indent="0" marL="0">
              <a:buNone/>
            </a:pPr>
            <a:r>
              <a:rPr lang="en-US" sz="1400" b="1" spc="300" kern="0" dirty="0">
                <a:solidFill>
                  <a:srgbClr val="E8873A"/>
                </a:solidFill>
                <a:latin typeface="Calibri" pitchFamily="34" charset="0"/>
                <a:ea typeface="Calibri" pitchFamily="34" charset="-122"/>
                <a:cs typeface="Calibri" pitchFamily="34" charset="-120"/>
              </a:rPr>
              <a:t>MACHINE LEARNING PROJECT</a:t>
            </a:r>
            <a:endParaRPr lang="en-US" sz="1400" dirty="0"/>
          </a:p>
        </p:txBody>
      </p:sp>
      <p:sp>
        <p:nvSpPr>
          <p:cNvPr id="7" name="Text 4"/>
          <p:cNvSpPr txBox="1"/>
          <p:nvPr/>
        </p:nvSpPr>
        <p:spPr>
          <a:xfrm>
            <a:off x="822960" y="2514600"/>
            <a:ext cx="10058400" cy="1737360"/>
          </a:xfrm>
          <a:prstGeom prst="rect">
            <a:avLst/>
          </a:prstGeom>
          <a:noFill/>
          <a:ln/>
        </p:spPr>
        <p:txBody>
          <a:bodyPr wrap="square" lIns="0" tIns="0" rIns="0" bIns="0" rtlCol="0" anchor="ctr"/>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Feature Importance Analysis for</a:t>
            </a:r>
            <a:endParaRPr lang="en-US" sz="4000" dirty="0"/>
          </a:p>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Air Quality Prediction</a:t>
            </a:r>
            <a:endParaRPr lang="en-US" sz="4000" dirty="0"/>
          </a:p>
        </p:txBody>
      </p:sp>
      <p:sp>
        <p:nvSpPr>
          <p:cNvPr id="8" name="Text 5"/>
          <p:cNvSpPr txBox="1"/>
          <p:nvPr/>
        </p:nvSpPr>
        <p:spPr>
          <a:xfrm>
            <a:off x="822960" y="4160520"/>
            <a:ext cx="9144000" cy="548640"/>
          </a:xfrm>
          <a:prstGeom prst="rect">
            <a:avLst/>
          </a:prstGeom>
          <a:noFill/>
          <a:ln/>
        </p:spPr>
        <p:txBody>
          <a:bodyPr wrap="square" lIns="0" tIns="0" rIns="0" bIns="0" rtlCol="0" anchor="ctr"/>
          <a:lstStyle/>
          <a:p>
            <a:pPr algn="l" indent="0" marL="0">
              <a:buNone/>
            </a:pPr>
            <a:r>
              <a:rPr lang="en-US" sz="2000" i="1" dirty="0">
                <a:solidFill>
                  <a:srgbClr val="CADCE0"/>
                </a:solidFill>
                <a:latin typeface="Calibri" pitchFamily="34" charset="0"/>
                <a:ea typeface="Calibri" pitchFamily="34" charset="-122"/>
                <a:cs typeface="Calibri" pitchFamily="34" charset="-120"/>
              </a:rPr>
              <a:t>Using Random Forest</a:t>
            </a:r>
            <a:endParaRPr lang="en-US" sz="2000" dirty="0"/>
          </a:p>
        </p:txBody>
      </p:sp>
      <p:sp>
        <p:nvSpPr>
          <p:cNvPr id="9" name="Shape 6"/>
          <p:cNvSpPr/>
          <p:nvPr/>
        </p:nvSpPr>
        <p:spPr>
          <a:xfrm>
            <a:off x="822960" y="5074920"/>
            <a:ext cx="2926080" cy="0"/>
          </a:xfrm>
          <a:prstGeom prst="line">
            <a:avLst/>
          </a:prstGeom>
          <a:noFill/>
          <a:ln w="19050">
            <a:solidFill>
              <a:srgbClr val="4F8A99"/>
            </a:solidFill>
            <a:prstDash val="solid"/>
          </a:ln>
        </p:spPr>
      </p:sp>
      <p:sp>
        <p:nvSpPr>
          <p:cNvPr id="10" name="Text 7"/>
          <p:cNvSpPr txBox="1"/>
          <p:nvPr/>
        </p:nvSpPr>
        <p:spPr>
          <a:xfrm>
            <a:off x="822960" y="5303520"/>
            <a:ext cx="7315200" cy="320040"/>
          </a:xfrm>
          <a:prstGeom prst="rect">
            <a:avLst/>
          </a:prstGeom>
          <a:noFill/>
          <a:ln/>
        </p:spPr>
        <p:txBody>
          <a:bodyPr wrap="square" lIns="0" tIns="0" rIns="0" bIns="0" rtlCol="0" anchor="ctr"/>
          <a:lstStyle/>
          <a:p>
            <a:pPr indent="0" marL="0">
              <a:buNone/>
            </a:pPr>
            <a:r>
              <a:rPr lang="en-US" sz="1300" b="1" dirty="0">
                <a:solidFill>
                  <a:srgbClr val="CADCE0"/>
                </a:solidFill>
                <a:latin typeface="Calibri" pitchFamily="34" charset="0"/>
                <a:ea typeface="Calibri" pitchFamily="34" charset="-122"/>
                <a:cs typeface="Calibri" pitchFamily="34" charset="-120"/>
              </a:rPr>
              <a:t>Team Members:  </a:t>
            </a:r>
            <a:pPr indent="0" marL="0">
              <a:buNone/>
            </a:pPr>
            <a:r>
              <a:rPr lang="en-US" sz="1300" dirty="0">
                <a:solidFill>
                  <a:srgbClr val="FFFFFF"/>
                </a:solidFill>
                <a:latin typeface="Calibri" pitchFamily="34" charset="0"/>
                <a:ea typeface="Calibri" pitchFamily="34" charset="-122"/>
                <a:cs typeface="Calibri" pitchFamily="34" charset="-120"/>
              </a:rPr>
              <a:t>Darahasini D, Mythri R</a:t>
            </a:r>
            <a:endParaRPr lang="en-US" sz="1300" dirty="0"/>
          </a:p>
        </p:txBody>
      </p:sp>
      <p:sp>
        <p:nvSpPr>
          <p:cNvPr id="11" name="Text 8"/>
          <p:cNvSpPr txBox="1"/>
          <p:nvPr/>
        </p:nvSpPr>
        <p:spPr>
          <a:xfrm>
            <a:off x="822960" y="5669280"/>
            <a:ext cx="7315200" cy="320040"/>
          </a:xfrm>
          <a:prstGeom prst="rect">
            <a:avLst/>
          </a:prstGeom>
          <a:noFill/>
          <a:ln/>
        </p:spPr>
        <p:txBody>
          <a:bodyPr wrap="square" lIns="0" tIns="0" rIns="0" bIns="0" rtlCol="0" anchor="ctr"/>
          <a:lstStyle/>
          <a:p>
            <a:pPr indent="0" marL="0">
              <a:buNone/>
            </a:pPr>
            <a:r>
              <a:rPr lang="en-US" sz="1300" b="1" dirty="0">
                <a:solidFill>
                  <a:srgbClr val="CADCE0"/>
                </a:solidFill>
                <a:latin typeface="Calibri" pitchFamily="34" charset="0"/>
                <a:ea typeface="Calibri" pitchFamily="34" charset="-122"/>
                <a:cs typeface="Calibri" pitchFamily="34" charset="-120"/>
              </a:rPr>
              <a:t>Roll Numbers:  </a:t>
            </a:r>
            <a:pPr indent="0" marL="0">
              <a:buNone/>
            </a:pPr>
            <a:r>
              <a:rPr lang="en-US" sz="1300" dirty="0">
                <a:solidFill>
                  <a:srgbClr val="FFFFFF"/>
                </a:solidFill>
                <a:latin typeface="Calibri" pitchFamily="34" charset="0"/>
                <a:ea typeface="Calibri" pitchFamily="34" charset="-122"/>
                <a:cs typeface="Calibri" pitchFamily="34" charset="-120"/>
              </a:rPr>
              <a:t>2520030289, 2520030296</a:t>
            </a:r>
            <a:endParaRPr lang="en-US" sz="1300" dirty="0"/>
          </a:p>
        </p:txBody>
      </p:sp>
      <p:sp>
        <p:nvSpPr>
          <p:cNvPr id="12" name="Text 9"/>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9FB8BE"/>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13" name="Shape 10"/>
          <p:cNvSpPr/>
          <p:nvPr/>
        </p:nvSpPr>
        <p:spPr>
          <a:xfrm>
            <a:off x="11475720" y="6446520"/>
            <a:ext cx="411480" cy="320040"/>
          </a:xfrm>
          <a:prstGeom prst="rect">
            <a:avLst/>
          </a:prstGeom>
          <a:solidFill>
            <a:srgbClr val="FFFFFF">
              <a:alpha val="10000"/>
            </a:srgbClr>
          </a:solidFill>
          <a:ln/>
        </p:spPr>
      </p:sp>
      <p:sp>
        <p:nvSpPr>
          <p:cNvPr id="14" name="Text 11"/>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48640"/>
          </a:xfrm>
          <a:prstGeom prst="rect">
            <a:avLst/>
          </a:prstGeom>
          <a:noFill/>
          <a:ln/>
        </p:spPr>
        <p:txBody>
          <a:bodyPr wrap="square" lIns="0" tIns="0" rIns="0" bIns="0" rtlCol="0" anchor="ctr"/>
          <a:lstStyle/>
          <a:p>
            <a:pPr algn="l" indent="0" marL="0">
              <a:buNone/>
            </a:pPr>
            <a:r>
              <a:rPr lang="en-US" sz="3000" b="1" dirty="0">
                <a:solidFill>
                  <a:srgbClr val="1B4B5A"/>
                </a:solidFill>
                <a:latin typeface="Cambria" pitchFamily="34" charset="0"/>
                <a:ea typeface="Cambria" pitchFamily="34" charset="-122"/>
                <a:cs typeface="Cambria" pitchFamily="34" charset="-120"/>
              </a:rPr>
              <a:t>Introduction &amp; Problem Statement</a:t>
            </a:r>
            <a:endParaRPr lang="en-US" sz="3000" dirty="0"/>
          </a:p>
        </p:txBody>
      </p:sp>
      <p:sp>
        <p:nvSpPr>
          <p:cNvPr id="3" name="Shape 1"/>
          <p:cNvSpPr/>
          <p:nvPr/>
        </p:nvSpPr>
        <p:spPr>
          <a:xfrm>
            <a:off x="548640" y="1051560"/>
            <a:ext cx="11064240" cy="0"/>
          </a:xfrm>
          <a:prstGeom prst="line">
            <a:avLst/>
          </a:prstGeom>
          <a:noFill/>
          <a:ln w="9525">
            <a:solidFill>
              <a:srgbClr val="4F8A99">
                <a:alpha val="40000"/>
              </a:srgbClr>
            </a:solidFill>
            <a:prstDash val="solid"/>
          </a:ln>
        </p:spPr>
      </p:sp>
      <p:sp>
        <p:nvSpPr>
          <p:cNvPr id="4" name="Shape 2"/>
          <p:cNvSpPr/>
          <p:nvPr/>
        </p:nvSpPr>
        <p:spPr>
          <a:xfrm>
            <a:off x="548640" y="1417320"/>
            <a:ext cx="11064240" cy="1371600"/>
          </a:xfrm>
          <a:prstGeom prst="roundRect">
            <a:avLst>
              <a:gd name="adj" fmla="val 5333"/>
            </a:avLst>
          </a:prstGeom>
          <a:solidFill>
            <a:srgbClr val="FFFFFF"/>
          </a:solidFill>
          <a:ln/>
          <a:effectLst>
            <a:outerShdw sx="100000" sy="100000" kx="0" ky="0" algn="bl" rotWithShape="0" blurRad="76200" dist="25400" dir="5400000">
              <a:srgbClr val="1B4B5A">
                <a:alpha val="12000"/>
              </a:srgbClr>
            </a:outerShdw>
          </a:effectLst>
        </p:spPr>
      </p:sp>
      <p:sp>
        <p:nvSpPr>
          <p:cNvPr id="5" name="Shape 3"/>
          <p:cNvSpPr/>
          <p:nvPr/>
        </p:nvSpPr>
        <p:spPr>
          <a:xfrm>
            <a:off x="868680" y="1719072"/>
            <a:ext cx="768096" cy="768096"/>
          </a:xfrm>
          <a:prstGeom prst="ellipse">
            <a:avLst/>
          </a:prstGeom>
          <a:solidFill>
            <a:srgbClr val="1B4B5A"/>
          </a:solidFill>
          <a:ln/>
        </p:spPr>
      </p:sp>
      <p:pic>
        <p:nvPicPr>
          <p:cNvPr id="6" name="Image 0" descr="/home/claude/icons/smog_w.png">    </p:cNvPr>
          <p:cNvPicPr>
            <a:picLocks noChangeAspect="1"/>
          </p:cNvPicPr>
          <p:nvPr/>
        </p:nvPicPr>
        <p:blipFill>
          <a:blip r:embed="rId1"/>
          <a:stretch>
            <a:fillRect/>
          </a:stretch>
        </p:blipFill>
        <p:spPr>
          <a:xfrm>
            <a:off x="1068385" y="1918777"/>
            <a:ext cx="368686" cy="368686"/>
          </a:xfrm>
          <a:prstGeom prst="rect">
            <a:avLst/>
          </a:prstGeom>
        </p:spPr>
      </p:pic>
      <p:sp>
        <p:nvSpPr>
          <p:cNvPr id="7" name="Text 4"/>
          <p:cNvSpPr txBox="1"/>
          <p:nvPr/>
        </p:nvSpPr>
        <p:spPr>
          <a:xfrm>
            <a:off x="1965960" y="1545336"/>
            <a:ext cx="9052560" cy="365760"/>
          </a:xfrm>
          <a:prstGeom prst="rect">
            <a:avLst/>
          </a:prstGeom>
          <a:noFill/>
          <a:ln/>
        </p:spPr>
        <p:txBody>
          <a:bodyPr wrap="square" lIns="0" tIns="0" rIns="0" bIns="0" rtlCol="0" anchor="ctr"/>
          <a:lstStyle/>
          <a:p>
            <a:pPr indent="0" marL="0">
              <a:buNone/>
            </a:pPr>
            <a:r>
              <a:rPr lang="en-US" sz="1700" b="1" dirty="0">
                <a:solidFill>
                  <a:srgbClr val="20343A"/>
                </a:solidFill>
                <a:latin typeface="Calibri" pitchFamily="34" charset="0"/>
                <a:ea typeface="Calibri" pitchFamily="34" charset="-122"/>
                <a:cs typeface="Calibri" pitchFamily="34" charset="-120"/>
              </a:rPr>
              <a:t>What is Air Quality Prediction?</a:t>
            </a:r>
            <a:endParaRPr lang="en-US" sz="1700" dirty="0"/>
          </a:p>
        </p:txBody>
      </p:sp>
      <p:sp>
        <p:nvSpPr>
          <p:cNvPr id="8" name="Text 5"/>
          <p:cNvSpPr txBox="1"/>
          <p:nvPr/>
        </p:nvSpPr>
        <p:spPr>
          <a:xfrm>
            <a:off x="1965960" y="1911096"/>
            <a:ext cx="9326880" cy="777240"/>
          </a:xfrm>
          <a:prstGeom prst="rect">
            <a:avLst/>
          </a:prstGeom>
          <a:noFill/>
          <a:ln/>
        </p:spPr>
        <p:txBody>
          <a:bodyPr wrap="square" lIns="0" tIns="0" rIns="0" bIns="0" rtlCol="0" anchor="t"/>
          <a:lstStyle/>
          <a:p>
            <a:pPr indent="0" marL="0">
              <a:lnSpc>
                <a:spcPct val="115000"/>
              </a:lnSpc>
              <a:buNone/>
            </a:pPr>
            <a:r>
              <a:rPr lang="en-US" sz="1300" dirty="0">
                <a:solidFill>
                  <a:srgbClr val="5C7378"/>
                </a:solidFill>
                <a:latin typeface="Calibri" pitchFamily="34" charset="0"/>
                <a:ea typeface="Calibri" pitchFamily="34" charset="-122"/>
                <a:cs typeface="Calibri" pitchFamily="34" charset="-120"/>
              </a:rPr>
              <a:t>Instead of waiting for a station to report readings, we use past sensor and weather data to estimate pollution levels like PM2.5 or AQI ahead of time.</a:t>
            </a:r>
            <a:endParaRPr lang="en-US" sz="1300" dirty="0"/>
          </a:p>
        </p:txBody>
      </p:sp>
      <p:sp>
        <p:nvSpPr>
          <p:cNvPr id="9" name="Shape 6"/>
          <p:cNvSpPr/>
          <p:nvPr/>
        </p:nvSpPr>
        <p:spPr>
          <a:xfrm>
            <a:off x="548640" y="2990088"/>
            <a:ext cx="11064240" cy="1371600"/>
          </a:xfrm>
          <a:prstGeom prst="roundRect">
            <a:avLst>
              <a:gd name="adj" fmla="val 5333"/>
            </a:avLst>
          </a:prstGeom>
          <a:solidFill>
            <a:srgbClr val="FFFFFF"/>
          </a:solidFill>
          <a:ln/>
          <a:effectLst>
            <a:outerShdw sx="100000" sy="100000" kx="0" ky="0" algn="bl" rotWithShape="0" blurRad="76200" dist="25400" dir="5400000">
              <a:srgbClr val="1B4B5A">
                <a:alpha val="12000"/>
              </a:srgbClr>
            </a:outerShdw>
          </a:effectLst>
        </p:spPr>
      </p:sp>
      <p:sp>
        <p:nvSpPr>
          <p:cNvPr id="10" name="Shape 7"/>
          <p:cNvSpPr/>
          <p:nvPr/>
        </p:nvSpPr>
        <p:spPr>
          <a:xfrm>
            <a:off x="868680" y="3291840"/>
            <a:ext cx="768096" cy="768096"/>
          </a:xfrm>
          <a:prstGeom prst="ellipse">
            <a:avLst/>
          </a:prstGeom>
          <a:solidFill>
            <a:srgbClr val="1B4B5A"/>
          </a:solidFill>
          <a:ln/>
        </p:spPr>
      </p:sp>
      <p:pic>
        <p:nvPicPr>
          <p:cNvPr id="11" name="Image 1" descr="/home/claude/icons/lungs_w.png">    </p:cNvPr>
          <p:cNvPicPr>
            <a:picLocks noChangeAspect="1"/>
          </p:cNvPicPr>
          <p:nvPr/>
        </p:nvPicPr>
        <p:blipFill>
          <a:blip r:embed="rId2"/>
          <a:stretch>
            <a:fillRect/>
          </a:stretch>
        </p:blipFill>
        <p:spPr>
          <a:xfrm>
            <a:off x="1068385" y="3491545"/>
            <a:ext cx="368686" cy="368686"/>
          </a:xfrm>
          <a:prstGeom prst="rect">
            <a:avLst/>
          </a:prstGeom>
        </p:spPr>
      </p:pic>
      <p:sp>
        <p:nvSpPr>
          <p:cNvPr id="12" name="Text 8"/>
          <p:cNvSpPr txBox="1"/>
          <p:nvPr/>
        </p:nvSpPr>
        <p:spPr>
          <a:xfrm>
            <a:off x="1965960" y="3118104"/>
            <a:ext cx="9052560" cy="365760"/>
          </a:xfrm>
          <a:prstGeom prst="rect">
            <a:avLst/>
          </a:prstGeom>
          <a:noFill/>
          <a:ln/>
        </p:spPr>
        <p:txBody>
          <a:bodyPr wrap="square" lIns="0" tIns="0" rIns="0" bIns="0" rtlCol="0" anchor="ctr"/>
          <a:lstStyle/>
          <a:p>
            <a:pPr indent="0" marL="0">
              <a:buNone/>
            </a:pPr>
            <a:r>
              <a:rPr lang="en-US" sz="1700" b="1" dirty="0">
                <a:solidFill>
                  <a:srgbClr val="20343A"/>
                </a:solidFill>
                <a:latin typeface="Calibri" pitchFamily="34" charset="0"/>
                <a:ea typeface="Calibri" pitchFamily="34" charset="-122"/>
                <a:cs typeface="Calibri" pitchFamily="34" charset="-120"/>
              </a:rPr>
              <a:t>Why It Matters</a:t>
            </a:r>
            <a:endParaRPr lang="en-US" sz="1700" dirty="0"/>
          </a:p>
        </p:txBody>
      </p:sp>
      <p:sp>
        <p:nvSpPr>
          <p:cNvPr id="13" name="Text 9"/>
          <p:cNvSpPr txBox="1"/>
          <p:nvPr/>
        </p:nvSpPr>
        <p:spPr>
          <a:xfrm>
            <a:off x="1965960" y="3483864"/>
            <a:ext cx="9326880" cy="777240"/>
          </a:xfrm>
          <a:prstGeom prst="rect">
            <a:avLst/>
          </a:prstGeom>
          <a:noFill/>
          <a:ln/>
        </p:spPr>
        <p:txBody>
          <a:bodyPr wrap="square" lIns="0" tIns="0" rIns="0" bIns="0" rtlCol="0" anchor="t"/>
          <a:lstStyle/>
          <a:p>
            <a:pPr indent="0" marL="0">
              <a:lnSpc>
                <a:spcPct val="115000"/>
              </a:lnSpc>
              <a:buNone/>
            </a:pPr>
            <a:r>
              <a:rPr lang="en-US" sz="1300" dirty="0">
                <a:solidFill>
                  <a:srgbClr val="5C7378"/>
                </a:solidFill>
                <a:latin typeface="Calibri" pitchFamily="34" charset="0"/>
                <a:ea typeface="Calibri" pitchFamily="34" charset="-122"/>
                <a:cs typeface="Calibri" pitchFamily="34" charset="-120"/>
              </a:rPr>
              <a:t>Bad air quality is a real health risk, especially in cities. If we can predict it a bit early, people and authorities get a chance to react before it gets worse.</a:t>
            </a:r>
            <a:endParaRPr lang="en-US" sz="1300" dirty="0"/>
          </a:p>
        </p:txBody>
      </p:sp>
      <p:sp>
        <p:nvSpPr>
          <p:cNvPr id="14" name="Shape 10"/>
          <p:cNvSpPr/>
          <p:nvPr/>
        </p:nvSpPr>
        <p:spPr>
          <a:xfrm>
            <a:off x="548640" y="4562856"/>
            <a:ext cx="11064240" cy="1371600"/>
          </a:xfrm>
          <a:prstGeom prst="roundRect">
            <a:avLst>
              <a:gd name="adj" fmla="val 5333"/>
            </a:avLst>
          </a:prstGeom>
          <a:solidFill>
            <a:srgbClr val="FFFFFF"/>
          </a:solidFill>
          <a:ln/>
          <a:effectLst>
            <a:outerShdw sx="100000" sy="100000" kx="0" ky="0" algn="bl" rotWithShape="0" blurRad="76200" dist="25400" dir="5400000">
              <a:srgbClr val="1B4B5A">
                <a:alpha val="12000"/>
              </a:srgbClr>
            </a:outerShdw>
          </a:effectLst>
        </p:spPr>
      </p:sp>
      <p:sp>
        <p:nvSpPr>
          <p:cNvPr id="15" name="Shape 11"/>
          <p:cNvSpPr/>
          <p:nvPr/>
        </p:nvSpPr>
        <p:spPr>
          <a:xfrm>
            <a:off x="868680" y="4864608"/>
            <a:ext cx="768096" cy="768096"/>
          </a:xfrm>
          <a:prstGeom prst="ellipse">
            <a:avLst/>
          </a:prstGeom>
          <a:solidFill>
            <a:srgbClr val="1B4B5A"/>
          </a:solidFill>
          <a:ln/>
        </p:spPr>
      </p:sp>
      <p:pic>
        <p:nvPicPr>
          <p:cNvPr id="16" name="Image 2" descr="/home/claude/icons/brain_w.png">    </p:cNvPr>
          <p:cNvPicPr>
            <a:picLocks noChangeAspect="1"/>
          </p:cNvPicPr>
          <p:nvPr/>
        </p:nvPicPr>
        <p:blipFill>
          <a:blip r:embed="rId3"/>
          <a:stretch>
            <a:fillRect/>
          </a:stretch>
        </p:blipFill>
        <p:spPr>
          <a:xfrm>
            <a:off x="1068385" y="5064313"/>
            <a:ext cx="368686" cy="368686"/>
          </a:xfrm>
          <a:prstGeom prst="rect">
            <a:avLst/>
          </a:prstGeom>
        </p:spPr>
      </p:pic>
      <p:sp>
        <p:nvSpPr>
          <p:cNvPr id="17" name="Text 12"/>
          <p:cNvSpPr txBox="1"/>
          <p:nvPr/>
        </p:nvSpPr>
        <p:spPr>
          <a:xfrm>
            <a:off x="1965960" y="4690872"/>
            <a:ext cx="9052560" cy="365760"/>
          </a:xfrm>
          <a:prstGeom prst="rect">
            <a:avLst/>
          </a:prstGeom>
          <a:noFill/>
          <a:ln/>
        </p:spPr>
        <p:txBody>
          <a:bodyPr wrap="square" lIns="0" tIns="0" rIns="0" bIns="0" rtlCol="0" anchor="ctr"/>
          <a:lstStyle/>
          <a:p>
            <a:pPr indent="0" marL="0">
              <a:buNone/>
            </a:pPr>
            <a:r>
              <a:rPr lang="en-US" sz="1700" b="1" dirty="0">
                <a:solidFill>
                  <a:srgbClr val="20343A"/>
                </a:solidFill>
                <a:latin typeface="Calibri" pitchFamily="34" charset="0"/>
                <a:ea typeface="Calibri" pitchFamily="34" charset="-122"/>
                <a:cs typeface="Calibri" pitchFamily="34" charset="-120"/>
              </a:rPr>
              <a:t>Why Machine Learning?</a:t>
            </a:r>
            <a:endParaRPr lang="en-US" sz="1700" dirty="0"/>
          </a:p>
        </p:txBody>
      </p:sp>
      <p:sp>
        <p:nvSpPr>
          <p:cNvPr id="18" name="Text 13"/>
          <p:cNvSpPr txBox="1"/>
          <p:nvPr/>
        </p:nvSpPr>
        <p:spPr>
          <a:xfrm>
            <a:off x="1965960" y="5056632"/>
            <a:ext cx="9326880" cy="777240"/>
          </a:xfrm>
          <a:prstGeom prst="rect">
            <a:avLst/>
          </a:prstGeom>
          <a:noFill/>
          <a:ln/>
        </p:spPr>
        <p:txBody>
          <a:bodyPr wrap="square" lIns="0" tIns="0" rIns="0" bIns="0" rtlCol="0" anchor="t"/>
          <a:lstStyle/>
          <a:p>
            <a:pPr indent="0" marL="0">
              <a:lnSpc>
                <a:spcPct val="115000"/>
              </a:lnSpc>
              <a:buNone/>
            </a:pPr>
            <a:r>
              <a:rPr lang="en-US" sz="1300" dirty="0">
                <a:solidFill>
                  <a:srgbClr val="5C7378"/>
                </a:solidFill>
                <a:latin typeface="Calibri" pitchFamily="34" charset="0"/>
                <a:ea typeface="Calibri" pitchFamily="34" charset="-122"/>
                <a:cs typeface="Calibri" pitchFamily="34" charset="-120"/>
              </a:rPr>
              <a:t>So many things affect pollution at once - traffic, weather, industrial activity - that it's hard to write simple rules for it. A model like Random Forest can pick up on these patterns on its own.</a:t>
            </a:r>
            <a:endParaRPr lang="en-US" sz="1300" dirty="0"/>
          </a:p>
        </p:txBody>
      </p:sp>
      <p:sp>
        <p:nvSpPr>
          <p:cNvPr id="19" name="Text 14"/>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20" name="Shape 15"/>
          <p:cNvSpPr/>
          <p:nvPr/>
        </p:nvSpPr>
        <p:spPr>
          <a:xfrm>
            <a:off x="11475720" y="6446520"/>
            <a:ext cx="411480" cy="320040"/>
          </a:xfrm>
          <a:prstGeom prst="rect">
            <a:avLst/>
          </a:prstGeom>
          <a:solidFill>
            <a:srgbClr val="1B4B5A">
              <a:alpha val="8000"/>
            </a:srgbClr>
          </a:solidFill>
          <a:ln/>
        </p:spPr>
      </p:sp>
      <p:sp>
        <p:nvSpPr>
          <p:cNvPr id="21" name="Text 16"/>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1B4B5A"/>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10698480" y="365760"/>
            <a:ext cx="640080" cy="640080"/>
          </a:xfrm>
          <a:prstGeom prst="ellipse">
            <a:avLst/>
          </a:prstGeom>
          <a:solidFill>
            <a:srgbClr val="4F8A99"/>
          </a:solidFill>
          <a:ln/>
        </p:spPr>
      </p:sp>
      <p:pic>
        <p:nvPicPr>
          <p:cNvPr id="4" name="Image 0" descr="/home/claude/icons/bullseye_w.png">    </p:cNvPr>
          <p:cNvPicPr>
            <a:picLocks noChangeAspect="1"/>
          </p:cNvPicPr>
          <p:nvPr/>
        </p:nvPicPr>
        <p:blipFill>
          <a:blip r:embed="rId1"/>
          <a:stretch>
            <a:fillRect/>
          </a:stretch>
        </p:blipFill>
        <p:spPr>
          <a:xfrm>
            <a:off x="10864901" y="532181"/>
            <a:ext cx="307238" cy="307238"/>
          </a:xfrm>
          <a:prstGeom prst="rect">
            <a:avLst/>
          </a:prstGeom>
        </p:spPr>
      </p:pic>
      <p:sp>
        <p:nvSpPr>
          <p:cNvPr id="5" name="Shape 2"/>
          <p:cNvSpPr/>
          <p:nvPr/>
        </p:nvSpPr>
        <p:spPr>
          <a:xfrm>
            <a:off x="548640" y="1051560"/>
            <a:ext cx="11064240" cy="0"/>
          </a:xfrm>
          <a:prstGeom prst="line">
            <a:avLst/>
          </a:prstGeom>
          <a:noFill/>
          <a:ln w="9525">
            <a:solidFill>
              <a:srgbClr val="4F8A99">
                <a:alpha val="40000"/>
              </a:srgbClr>
            </a:solidFill>
            <a:prstDash val="solid"/>
          </a:ln>
        </p:spPr>
      </p:sp>
      <p:sp>
        <p:nvSpPr>
          <p:cNvPr id="6" name="Shape 3"/>
          <p:cNvSpPr/>
          <p:nvPr/>
        </p:nvSpPr>
        <p:spPr>
          <a:xfrm>
            <a:off x="548640" y="1417320"/>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7" name="Shape 4"/>
          <p:cNvSpPr/>
          <p:nvPr/>
        </p:nvSpPr>
        <p:spPr>
          <a:xfrm>
            <a:off x="777240" y="1645920"/>
            <a:ext cx="502920" cy="502920"/>
          </a:xfrm>
          <a:prstGeom prst="ellipse">
            <a:avLst/>
          </a:prstGeom>
          <a:solidFill>
            <a:srgbClr val="1B4B5A"/>
          </a:solidFill>
          <a:ln/>
        </p:spPr>
      </p:sp>
      <p:sp>
        <p:nvSpPr>
          <p:cNvPr id="8" name="Text 5"/>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417320" y="1581912"/>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Predict air quality (AQI / pollutant levels) using a machine learning model</a:t>
            </a:r>
            <a:endParaRPr lang="en-US" sz="1350" dirty="0"/>
          </a:p>
        </p:txBody>
      </p:sp>
      <p:sp>
        <p:nvSpPr>
          <p:cNvPr id="10" name="Shape 7"/>
          <p:cNvSpPr/>
          <p:nvPr/>
        </p:nvSpPr>
        <p:spPr>
          <a:xfrm>
            <a:off x="6217920" y="1417320"/>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11" name="Shape 8"/>
          <p:cNvSpPr/>
          <p:nvPr/>
        </p:nvSpPr>
        <p:spPr>
          <a:xfrm>
            <a:off x="6446520" y="1645920"/>
            <a:ext cx="502920" cy="502920"/>
          </a:xfrm>
          <a:prstGeom prst="ellipse">
            <a:avLst/>
          </a:prstGeom>
          <a:solidFill>
            <a:srgbClr val="E8873A"/>
          </a:solidFill>
          <a:ln/>
        </p:spPr>
      </p:sp>
      <p:sp>
        <p:nvSpPr>
          <p:cNvPr id="12" name="Text 9"/>
          <p:cNvSpPr txBox="1"/>
          <p:nvPr/>
        </p:nvSpPr>
        <p:spPr>
          <a:xfrm>
            <a:off x="644652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7086600" y="1581912"/>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Collect and use weather and pollutant readings as input features</a:t>
            </a:r>
            <a:endParaRPr lang="en-US" sz="1350" dirty="0"/>
          </a:p>
        </p:txBody>
      </p:sp>
      <p:sp>
        <p:nvSpPr>
          <p:cNvPr id="14" name="Shape 11"/>
          <p:cNvSpPr/>
          <p:nvPr/>
        </p:nvSpPr>
        <p:spPr>
          <a:xfrm>
            <a:off x="548640" y="3035808"/>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15" name="Shape 12"/>
          <p:cNvSpPr/>
          <p:nvPr/>
        </p:nvSpPr>
        <p:spPr>
          <a:xfrm>
            <a:off x="777240" y="3264408"/>
            <a:ext cx="502920" cy="502920"/>
          </a:xfrm>
          <a:prstGeom prst="ellipse">
            <a:avLst/>
          </a:prstGeom>
          <a:solidFill>
            <a:srgbClr val="1B4B5A"/>
          </a:solidFill>
          <a:ln/>
        </p:spPr>
      </p:sp>
      <p:sp>
        <p:nvSpPr>
          <p:cNvPr id="16" name="Text 13"/>
          <p:cNvSpPr txBox="1"/>
          <p:nvPr/>
        </p:nvSpPr>
        <p:spPr>
          <a:xfrm>
            <a:off x="777240" y="32644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417320" y="3200400"/>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Train a Random Forest model on the cleaned dataset</a:t>
            </a:r>
            <a:endParaRPr lang="en-US" sz="1350" dirty="0"/>
          </a:p>
        </p:txBody>
      </p:sp>
      <p:sp>
        <p:nvSpPr>
          <p:cNvPr id="18" name="Shape 15"/>
          <p:cNvSpPr/>
          <p:nvPr/>
        </p:nvSpPr>
        <p:spPr>
          <a:xfrm>
            <a:off x="6217920" y="3035808"/>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19" name="Shape 16"/>
          <p:cNvSpPr/>
          <p:nvPr/>
        </p:nvSpPr>
        <p:spPr>
          <a:xfrm>
            <a:off x="6446520" y="3264408"/>
            <a:ext cx="502920" cy="502920"/>
          </a:xfrm>
          <a:prstGeom prst="ellipse">
            <a:avLst/>
          </a:prstGeom>
          <a:solidFill>
            <a:srgbClr val="E8873A"/>
          </a:solidFill>
          <a:ln/>
        </p:spPr>
      </p:sp>
      <p:sp>
        <p:nvSpPr>
          <p:cNvPr id="20" name="Text 17"/>
          <p:cNvSpPr txBox="1"/>
          <p:nvPr/>
        </p:nvSpPr>
        <p:spPr>
          <a:xfrm>
            <a:off x="6446520" y="32644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8"/>
          <p:cNvSpPr txBox="1"/>
          <p:nvPr/>
        </p:nvSpPr>
        <p:spPr>
          <a:xfrm>
            <a:off x="7086600" y="3200400"/>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Find out which features actually drive air quality the most</a:t>
            </a:r>
            <a:endParaRPr lang="en-US" sz="1350" dirty="0"/>
          </a:p>
        </p:txBody>
      </p:sp>
      <p:sp>
        <p:nvSpPr>
          <p:cNvPr id="22" name="Shape 19"/>
          <p:cNvSpPr/>
          <p:nvPr/>
        </p:nvSpPr>
        <p:spPr>
          <a:xfrm>
            <a:off x="548640" y="4654296"/>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23" name="Shape 20"/>
          <p:cNvSpPr/>
          <p:nvPr/>
        </p:nvSpPr>
        <p:spPr>
          <a:xfrm>
            <a:off x="777240" y="4882896"/>
            <a:ext cx="502920" cy="502920"/>
          </a:xfrm>
          <a:prstGeom prst="ellipse">
            <a:avLst/>
          </a:prstGeom>
          <a:solidFill>
            <a:srgbClr val="1B4B5A"/>
          </a:solidFill>
          <a:ln/>
        </p:spPr>
      </p:sp>
      <p:sp>
        <p:nvSpPr>
          <p:cNvPr id="24" name="Text 21"/>
          <p:cNvSpPr txBox="1"/>
          <p:nvPr/>
        </p:nvSpPr>
        <p:spPr>
          <a:xfrm>
            <a:off x="777240" y="48828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2"/>
          <p:cNvSpPr txBox="1"/>
          <p:nvPr/>
        </p:nvSpPr>
        <p:spPr>
          <a:xfrm>
            <a:off x="1417320" y="4818888"/>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Rank all the features by how important they turn out to be</a:t>
            </a:r>
            <a:endParaRPr lang="en-US" sz="1350" dirty="0"/>
          </a:p>
        </p:txBody>
      </p:sp>
      <p:sp>
        <p:nvSpPr>
          <p:cNvPr id="26" name="Shape 23"/>
          <p:cNvSpPr/>
          <p:nvPr/>
        </p:nvSpPr>
        <p:spPr>
          <a:xfrm>
            <a:off x="6217920" y="4654296"/>
            <a:ext cx="5394960" cy="1417320"/>
          </a:xfrm>
          <a:prstGeom prst="roundRect">
            <a:avLst>
              <a:gd name="adj" fmla="val 5161"/>
            </a:avLst>
          </a:prstGeom>
          <a:solidFill>
            <a:srgbClr val="FFFFFF"/>
          </a:solidFill>
          <a:ln/>
          <a:effectLst>
            <a:outerShdw sx="100000" sy="100000" kx="0" ky="0" algn="bl" rotWithShape="0" blurRad="63500" dist="25400" dir="5400000">
              <a:srgbClr val="1B4B5A">
                <a:alpha val="10000"/>
              </a:srgbClr>
            </a:outerShdw>
          </a:effectLst>
        </p:spPr>
      </p:sp>
      <p:sp>
        <p:nvSpPr>
          <p:cNvPr id="27" name="Shape 24"/>
          <p:cNvSpPr/>
          <p:nvPr/>
        </p:nvSpPr>
        <p:spPr>
          <a:xfrm>
            <a:off x="6446520" y="4882896"/>
            <a:ext cx="502920" cy="502920"/>
          </a:xfrm>
          <a:prstGeom prst="ellipse">
            <a:avLst/>
          </a:prstGeom>
          <a:solidFill>
            <a:srgbClr val="E8873A"/>
          </a:solidFill>
          <a:ln/>
        </p:spPr>
      </p:sp>
      <p:sp>
        <p:nvSpPr>
          <p:cNvPr id="28" name="Text 25"/>
          <p:cNvSpPr txBox="1"/>
          <p:nvPr/>
        </p:nvSpPr>
        <p:spPr>
          <a:xfrm>
            <a:off x="6446520" y="48828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9" name="Text 26"/>
          <p:cNvSpPr txBox="1"/>
          <p:nvPr/>
        </p:nvSpPr>
        <p:spPr>
          <a:xfrm>
            <a:off x="7086600" y="4818888"/>
            <a:ext cx="4297680" cy="1088136"/>
          </a:xfrm>
          <a:prstGeom prst="rect">
            <a:avLst/>
          </a:prstGeom>
          <a:noFill/>
          <a:ln/>
        </p:spPr>
        <p:txBody>
          <a:bodyPr wrap="square" lIns="0" tIns="0" rIns="0" bIns="0" rtlCol="0" anchor="ctr"/>
          <a:lstStyle/>
          <a:p>
            <a:pPr indent="0" marL="0">
              <a:lnSpc>
                <a:spcPct val="110000"/>
              </a:lnSpc>
              <a:buNone/>
            </a:pPr>
            <a:r>
              <a:rPr lang="en-US" sz="1350" dirty="0">
                <a:solidFill>
                  <a:srgbClr val="20343A"/>
                </a:solidFill>
                <a:latin typeface="Calibri" pitchFamily="34" charset="0"/>
                <a:ea typeface="Calibri" pitchFamily="34" charset="-122"/>
                <a:cs typeface="Calibri" pitchFamily="34" charset="-120"/>
              </a:rPr>
              <a:t>Check how well the model's predictions hold up</a:t>
            </a:r>
            <a:endParaRPr lang="en-US" sz="1350" dirty="0"/>
          </a:p>
        </p:txBody>
      </p:sp>
      <p:sp>
        <p:nvSpPr>
          <p:cNvPr id="30" name="Text 27"/>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31" name="Shape 28"/>
          <p:cNvSpPr/>
          <p:nvPr/>
        </p:nvSpPr>
        <p:spPr>
          <a:xfrm>
            <a:off x="11475720" y="6446520"/>
            <a:ext cx="411480" cy="320040"/>
          </a:xfrm>
          <a:prstGeom prst="rect">
            <a:avLst/>
          </a:prstGeom>
          <a:solidFill>
            <a:srgbClr val="1B4B5A">
              <a:alpha val="8000"/>
            </a:srgbClr>
          </a:solidFill>
          <a:ln/>
        </p:spPr>
      </p:sp>
      <p:sp>
        <p:nvSpPr>
          <p:cNvPr id="32" name="Text 29"/>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548640"/>
          </a:xfrm>
          <a:prstGeom prst="rect">
            <a:avLst/>
          </a:prstGeom>
          <a:noFill/>
          <a:ln/>
        </p:spPr>
        <p:txBody>
          <a:bodyPr wrap="square" lIns="0" tIns="0" rIns="0" bIns="0" rtlCol="0" anchor="ctr"/>
          <a:lstStyle/>
          <a:p>
            <a:pPr indent="0" marL="0">
              <a:buNone/>
            </a:pPr>
            <a:r>
              <a:rPr lang="en-US" sz="3000" b="1" dirty="0">
                <a:solidFill>
                  <a:srgbClr val="1B4B5A"/>
                </a:solidFill>
                <a:latin typeface="Cambria" pitchFamily="34" charset="0"/>
                <a:ea typeface="Cambria" pitchFamily="34" charset="-122"/>
                <a:cs typeface="Cambria" pitchFamily="34" charset="-120"/>
              </a:rPr>
              <a:t>Dataset &amp; Features</a:t>
            </a:r>
            <a:endParaRPr lang="en-US" sz="3000" dirty="0"/>
          </a:p>
        </p:txBody>
      </p:sp>
      <p:sp>
        <p:nvSpPr>
          <p:cNvPr id="3" name="Text 1"/>
          <p:cNvSpPr txBox="1"/>
          <p:nvPr/>
        </p:nvSpPr>
        <p:spPr>
          <a:xfrm>
            <a:off x="548640" y="932688"/>
            <a:ext cx="11064240" cy="320040"/>
          </a:xfrm>
          <a:prstGeom prst="rect">
            <a:avLst/>
          </a:prstGeom>
          <a:noFill/>
          <a:ln/>
        </p:spPr>
        <p:txBody>
          <a:bodyPr wrap="square" lIns="0" tIns="0" rIns="0" bIns="0" rtlCol="0" anchor="ctr"/>
          <a:lstStyle/>
          <a:p>
            <a:pPr indent="0" marL="0">
              <a:buNone/>
            </a:pPr>
            <a:r>
              <a:rPr lang="en-US" sz="1300" i="1" dirty="0">
                <a:solidFill>
                  <a:srgbClr val="5C7378"/>
                </a:solidFill>
                <a:latin typeface="Calibri" pitchFamily="34" charset="0"/>
                <a:ea typeface="Calibri" pitchFamily="34" charset="-122"/>
                <a:cs typeface="Calibri" pitchFamily="34" charset="-120"/>
              </a:rPr>
              <a:t>Input: Pollutant &amp; weather measurements     →     Output: Predicted air quality</a:t>
            </a:r>
            <a:endParaRPr lang="en-US" sz="1300" dirty="0"/>
          </a:p>
        </p:txBody>
      </p:sp>
      <p:sp>
        <p:nvSpPr>
          <p:cNvPr id="4" name="Shape 2"/>
          <p:cNvSpPr/>
          <p:nvPr/>
        </p:nvSpPr>
        <p:spPr>
          <a:xfrm>
            <a:off x="548640" y="1298448"/>
            <a:ext cx="11064240" cy="0"/>
          </a:xfrm>
          <a:prstGeom prst="line">
            <a:avLst/>
          </a:prstGeom>
          <a:noFill/>
          <a:ln w="9525">
            <a:solidFill>
              <a:srgbClr val="4F8A99">
                <a:alpha val="40000"/>
              </a:srgbClr>
            </a:solidFill>
            <a:prstDash val="solid"/>
          </a:ln>
        </p:spPr>
      </p:sp>
      <p:sp>
        <p:nvSpPr>
          <p:cNvPr id="5" name="Shape 3"/>
          <p:cNvSpPr/>
          <p:nvPr/>
        </p:nvSpPr>
        <p:spPr>
          <a:xfrm>
            <a:off x="548640" y="1554480"/>
            <a:ext cx="3474720" cy="1051560"/>
          </a:xfrm>
          <a:prstGeom prst="roundRect">
            <a:avLst>
              <a:gd name="adj" fmla="val 7826"/>
            </a:avLst>
          </a:prstGeom>
          <a:solidFill>
            <a:srgbClr val="FFFFFF"/>
          </a:solidFill>
          <a:ln w="9525">
            <a:solidFill>
              <a:srgbClr val="4F8A99">
                <a:alpha val="25000"/>
              </a:srgbClr>
            </a:solidFill>
            <a:prstDash val="solid"/>
          </a:ln>
        </p:spPr>
      </p:sp>
      <p:sp>
        <p:nvSpPr>
          <p:cNvPr id="6" name="Shape 4"/>
          <p:cNvSpPr/>
          <p:nvPr/>
        </p:nvSpPr>
        <p:spPr>
          <a:xfrm>
            <a:off x="749808" y="1769364"/>
            <a:ext cx="621792" cy="621792"/>
          </a:xfrm>
          <a:prstGeom prst="ellipse">
            <a:avLst/>
          </a:prstGeom>
          <a:solidFill>
            <a:srgbClr val="1B4B5A"/>
          </a:solidFill>
          <a:ln/>
        </p:spPr>
      </p:sp>
      <p:pic>
        <p:nvPicPr>
          <p:cNvPr id="7" name="Image 0" descr="/home/claude/icons/droplet_w.png">    </p:cNvPr>
          <p:cNvPicPr>
            <a:picLocks noChangeAspect="1"/>
          </p:cNvPicPr>
          <p:nvPr/>
        </p:nvPicPr>
        <p:blipFill>
          <a:blip r:embed="rId1"/>
          <a:stretch>
            <a:fillRect/>
          </a:stretch>
        </p:blipFill>
        <p:spPr>
          <a:xfrm>
            <a:off x="911474" y="1931030"/>
            <a:ext cx="298460" cy="298460"/>
          </a:xfrm>
          <a:prstGeom prst="rect">
            <a:avLst/>
          </a:prstGeom>
        </p:spPr>
      </p:pic>
      <p:sp>
        <p:nvSpPr>
          <p:cNvPr id="8" name="Text 5"/>
          <p:cNvSpPr txBox="1"/>
          <p:nvPr/>
        </p:nvSpPr>
        <p:spPr>
          <a:xfrm>
            <a:off x="1508760" y="155448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PM2.5 &amp; PM10</a:t>
            </a:r>
            <a:endParaRPr lang="en-US" sz="1450" dirty="0"/>
          </a:p>
        </p:txBody>
      </p:sp>
      <p:sp>
        <p:nvSpPr>
          <p:cNvPr id="9" name="Shape 6"/>
          <p:cNvSpPr/>
          <p:nvPr/>
        </p:nvSpPr>
        <p:spPr>
          <a:xfrm>
            <a:off x="4343400" y="1554480"/>
            <a:ext cx="3474720" cy="1051560"/>
          </a:xfrm>
          <a:prstGeom prst="roundRect">
            <a:avLst>
              <a:gd name="adj" fmla="val 7826"/>
            </a:avLst>
          </a:prstGeom>
          <a:solidFill>
            <a:srgbClr val="FFFFFF"/>
          </a:solidFill>
          <a:ln w="9525">
            <a:solidFill>
              <a:srgbClr val="4F8A99">
                <a:alpha val="25000"/>
              </a:srgbClr>
            </a:solidFill>
            <a:prstDash val="solid"/>
          </a:ln>
        </p:spPr>
      </p:sp>
      <p:sp>
        <p:nvSpPr>
          <p:cNvPr id="10" name="Shape 7"/>
          <p:cNvSpPr/>
          <p:nvPr/>
        </p:nvSpPr>
        <p:spPr>
          <a:xfrm>
            <a:off x="4544568" y="1769364"/>
            <a:ext cx="621792" cy="621792"/>
          </a:xfrm>
          <a:prstGeom prst="ellipse">
            <a:avLst/>
          </a:prstGeom>
          <a:solidFill>
            <a:srgbClr val="1B4B5A"/>
          </a:solidFill>
          <a:ln/>
        </p:spPr>
      </p:sp>
      <p:pic>
        <p:nvPicPr>
          <p:cNvPr id="11" name="Image 1" descr="/home/claude/icons/smog_w.png">    </p:cNvPr>
          <p:cNvPicPr>
            <a:picLocks noChangeAspect="1"/>
          </p:cNvPicPr>
          <p:nvPr/>
        </p:nvPicPr>
        <p:blipFill>
          <a:blip r:embed="rId2"/>
          <a:stretch>
            <a:fillRect/>
          </a:stretch>
        </p:blipFill>
        <p:spPr>
          <a:xfrm>
            <a:off x="4706234" y="1931030"/>
            <a:ext cx="298460" cy="298460"/>
          </a:xfrm>
          <a:prstGeom prst="rect">
            <a:avLst/>
          </a:prstGeom>
        </p:spPr>
      </p:pic>
      <p:sp>
        <p:nvSpPr>
          <p:cNvPr id="12" name="Text 8"/>
          <p:cNvSpPr txBox="1"/>
          <p:nvPr/>
        </p:nvSpPr>
        <p:spPr>
          <a:xfrm>
            <a:off x="5303520" y="155448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NO₂ &amp; SO₂</a:t>
            </a:r>
            <a:endParaRPr lang="en-US" sz="1450" dirty="0"/>
          </a:p>
        </p:txBody>
      </p:sp>
      <p:sp>
        <p:nvSpPr>
          <p:cNvPr id="13" name="Shape 9"/>
          <p:cNvSpPr/>
          <p:nvPr/>
        </p:nvSpPr>
        <p:spPr>
          <a:xfrm>
            <a:off x="8138160" y="1554480"/>
            <a:ext cx="3474720" cy="1051560"/>
          </a:xfrm>
          <a:prstGeom prst="roundRect">
            <a:avLst>
              <a:gd name="adj" fmla="val 7826"/>
            </a:avLst>
          </a:prstGeom>
          <a:solidFill>
            <a:srgbClr val="FFFFFF"/>
          </a:solidFill>
          <a:ln w="9525">
            <a:solidFill>
              <a:srgbClr val="4F8A99">
                <a:alpha val="25000"/>
              </a:srgbClr>
            </a:solidFill>
            <a:prstDash val="solid"/>
          </a:ln>
        </p:spPr>
      </p:sp>
      <p:sp>
        <p:nvSpPr>
          <p:cNvPr id="14" name="Shape 10"/>
          <p:cNvSpPr/>
          <p:nvPr/>
        </p:nvSpPr>
        <p:spPr>
          <a:xfrm>
            <a:off x="8339328" y="1769364"/>
            <a:ext cx="621792" cy="621792"/>
          </a:xfrm>
          <a:prstGeom prst="ellipse">
            <a:avLst/>
          </a:prstGeom>
          <a:solidFill>
            <a:srgbClr val="1B4B5A"/>
          </a:solidFill>
          <a:ln/>
        </p:spPr>
      </p:sp>
      <p:pic>
        <p:nvPicPr>
          <p:cNvPr id="15" name="Image 2" descr="/home/claude/icons/flask_w.png">    </p:cNvPr>
          <p:cNvPicPr>
            <a:picLocks noChangeAspect="1"/>
          </p:cNvPicPr>
          <p:nvPr/>
        </p:nvPicPr>
        <p:blipFill>
          <a:blip r:embed="rId3"/>
          <a:stretch>
            <a:fillRect/>
          </a:stretch>
        </p:blipFill>
        <p:spPr>
          <a:xfrm>
            <a:off x="8500994" y="1931030"/>
            <a:ext cx="298460" cy="298460"/>
          </a:xfrm>
          <a:prstGeom prst="rect">
            <a:avLst/>
          </a:prstGeom>
        </p:spPr>
      </p:pic>
      <p:sp>
        <p:nvSpPr>
          <p:cNvPr id="16" name="Text 11"/>
          <p:cNvSpPr txBox="1"/>
          <p:nvPr/>
        </p:nvSpPr>
        <p:spPr>
          <a:xfrm>
            <a:off x="9098280" y="155448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CO &amp; O₃</a:t>
            </a:r>
            <a:endParaRPr lang="en-US" sz="1450" dirty="0"/>
          </a:p>
        </p:txBody>
      </p:sp>
      <p:sp>
        <p:nvSpPr>
          <p:cNvPr id="17" name="Shape 12"/>
          <p:cNvSpPr/>
          <p:nvPr/>
        </p:nvSpPr>
        <p:spPr>
          <a:xfrm>
            <a:off x="548640" y="2834640"/>
            <a:ext cx="3474720" cy="1051560"/>
          </a:xfrm>
          <a:prstGeom prst="roundRect">
            <a:avLst>
              <a:gd name="adj" fmla="val 7826"/>
            </a:avLst>
          </a:prstGeom>
          <a:solidFill>
            <a:srgbClr val="FFFFFF"/>
          </a:solidFill>
          <a:ln w="9525">
            <a:solidFill>
              <a:srgbClr val="4F8A99">
                <a:alpha val="25000"/>
              </a:srgbClr>
            </a:solidFill>
            <a:prstDash val="solid"/>
          </a:ln>
        </p:spPr>
      </p:sp>
      <p:sp>
        <p:nvSpPr>
          <p:cNvPr id="18" name="Shape 13"/>
          <p:cNvSpPr/>
          <p:nvPr/>
        </p:nvSpPr>
        <p:spPr>
          <a:xfrm>
            <a:off x="749808" y="3049524"/>
            <a:ext cx="621792" cy="621792"/>
          </a:xfrm>
          <a:prstGeom prst="ellipse">
            <a:avLst/>
          </a:prstGeom>
          <a:solidFill>
            <a:srgbClr val="1B4B5A"/>
          </a:solidFill>
          <a:ln/>
        </p:spPr>
      </p:sp>
      <p:pic>
        <p:nvPicPr>
          <p:cNvPr id="19" name="Image 3" descr="/home/claude/icons/thermometer_w.png">    </p:cNvPr>
          <p:cNvPicPr>
            <a:picLocks noChangeAspect="1"/>
          </p:cNvPicPr>
          <p:nvPr/>
        </p:nvPicPr>
        <p:blipFill>
          <a:blip r:embed="rId4"/>
          <a:stretch>
            <a:fillRect/>
          </a:stretch>
        </p:blipFill>
        <p:spPr>
          <a:xfrm>
            <a:off x="911474" y="3211190"/>
            <a:ext cx="298460" cy="298460"/>
          </a:xfrm>
          <a:prstGeom prst="rect">
            <a:avLst/>
          </a:prstGeom>
        </p:spPr>
      </p:pic>
      <p:sp>
        <p:nvSpPr>
          <p:cNvPr id="20" name="Text 14"/>
          <p:cNvSpPr txBox="1"/>
          <p:nvPr/>
        </p:nvSpPr>
        <p:spPr>
          <a:xfrm>
            <a:off x="1508760" y="283464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Temperature</a:t>
            </a:r>
            <a:endParaRPr lang="en-US" sz="1450" dirty="0"/>
          </a:p>
        </p:txBody>
      </p:sp>
      <p:sp>
        <p:nvSpPr>
          <p:cNvPr id="21" name="Shape 15"/>
          <p:cNvSpPr/>
          <p:nvPr/>
        </p:nvSpPr>
        <p:spPr>
          <a:xfrm>
            <a:off x="4343400" y="2834640"/>
            <a:ext cx="3474720" cy="1051560"/>
          </a:xfrm>
          <a:prstGeom prst="roundRect">
            <a:avLst>
              <a:gd name="adj" fmla="val 7826"/>
            </a:avLst>
          </a:prstGeom>
          <a:solidFill>
            <a:srgbClr val="FFFFFF"/>
          </a:solidFill>
          <a:ln w="9525">
            <a:solidFill>
              <a:srgbClr val="4F8A99">
                <a:alpha val="25000"/>
              </a:srgbClr>
            </a:solidFill>
            <a:prstDash val="solid"/>
          </a:ln>
        </p:spPr>
      </p:sp>
      <p:sp>
        <p:nvSpPr>
          <p:cNvPr id="22" name="Shape 16"/>
          <p:cNvSpPr/>
          <p:nvPr/>
        </p:nvSpPr>
        <p:spPr>
          <a:xfrm>
            <a:off x="4544568" y="3049524"/>
            <a:ext cx="621792" cy="621792"/>
          </a:xfrm>
          <a:prstGeom prst="ellipse">
            <a:avLst/>
          </a:prstGeom>
          <a:solidFill>
            <a:srgbClr val="1B4B5A"/>
          </a:solidFill>
          <a:ln/>
        </p:spPr>
      </p:sp>
      <p:pic>
        <p:nvPicPr>
          <p:cNvPr id="23" name="Image 4" descr="/home/claude/icons/cloud_w.png">    </p:cNvPr>
          <p:cNvPicPr>
            <a:picLocks noChangeAspect="1"/>
          </p:cNvPicPr>
          <p:nvPr/>
        </p:nvPicPr>
        <p:blipFill>
          <a:blip r:embed="rId5"/>
          <a:stretch>
            <a:fillRect/>
          </a:stretch>
        </p:blipFill>
        <p:spPr>
          <a:xfrm>
            <a:off x="4706234" y="3211190"/>
            <a:ext cx="298460" cy="298460"/>
          </a:xfrm>
          <a:prstGeom prst="rect">
            <a:avLst/>
          </a:prstGeom>
        </p:spPr>
      </p:pic>
      <p:sp>
        <p:nvSpPr>
          <p:cNvPr id="24" name="Text 17"/>
          <p:cNvSpPr txBox="1"/>
          <p:nvPr/>
        </p:nvSpPr>
        <p:spPr>
          <a:xfrm>
            <a:off x="5303520" y="283464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Humidity</a:t>
            </a:r>
            <a:endParaRPr lang="en-US" sz="1450" dirty="0"/>
          </a:p>
        </p:txBody>
      </p:sp>
      <p:sp>
        <p:nvSpPr>
          <p:cNvPr id="25" name="Shape 18"/>
          <p:cNvSpPr/>
          <p:nvPr/>
        </p:nvSpPr>
        <p:spPr>
          <a:xfrm>
            <a:off x="8138160" y="2834640"/>
            <a:ext cx="3474720" cy="1051560"/>
          </a:xfrm>
          <a:prstGeom prst="roundRect">
            <a:avLst>
              <a:gd name="adj" fmla="val 7826"/>
            </a:avLst>
          </a:prstGeom>
          <a:solidFill>
            <a:srgbClr val="FFFFFF"/>
          </a:solidFill>
          <a:ln w="9525">
            <a:solidFill>
              <a:srgbClr val="4F8A99">
                <a:alpha val="25000"/>
              </a:srgbClr>
            </a:solidFill>
            <a:prstDash val="solid"/>
          </a:ln>
        </p:spPr>
      </p:sp>
      <p:sp>
        <p:nvSpPr>
          <p:cNvPr id="26" name="Shape 19"/>
          <p:cNvSpPr/>
          <p:nvPr/>
        </p:nvSpPr>
        <p:spPr>
          <a:xfrm>
            <a:off x="8339328" y="3049524"/>
            <a:ext cx="621792" cy="621792"/>
          </a:xfrm>
          <a:prstGeom prst="ellipse">
            <a:avLst/>
          </a:prstGeom>
          <a:solidFill>
            <a:srgbClr val="1B4B5A"/>
          </a:solidFill>
          <a:ln/>
        </p:spPr>
      </p:sp>
      <p:pic>
        <p:nvPicPr>
          <p:cNvPr id="27" name="Image 5" descr="/home/claude/icons/wind_w.png">    </p:cNvPr>
          <p:cNvPicPr>
            <a:picLocks noChangeAspect="1"/>
          </p:cNvPicPr>
          <p:nvPr/>
        </p:nvPicPr>
        <p:blipFill>
          <a:blip r:embed="rId6"/>
          <a:stretch>
            <a:fillRect/>
          </a:stretch>
        </p:blipFill>
        <p:spPr>
          <a:xfrm>
            <a:off x="8500994" y="3211190"/>
            <a:ext cx="298460" cy="298460"/>
          </a:xfrm>
          <a:prstGeom prst="rect">
            <a:avLst/>
          </a:prstGeom>
        </p:spPr>
      </p:pic>
      <p:sp>
        <p:nvSpPr>
          <p:cNvPr id="28" name="Text 20"/>
          <p:cNvSpPr txBox="1"/>
          <p:nvPr/>
        </p:nvSpPr>
        <p:spPr>
          <a:xfrm>
            <a:off x="9098280" y="2834640"/>
            <a:ext cx="2377440" cy="1051560"/>
          </a:xfrm>
          <a:prstGeom prst="rect">
            <a:avLst/>
          </a:prstGeom>
          <a:noFill/>
          <a:ln/>
        </p:spPr>
        <p:txBody>
          <a:bodyPr wrap="square" lIns="0" tIns="0" rIns="0" bIns="0" rtlCol="0" anchor="ctr"/>
          <a:lstStyle/>
          <a:p>
            <a:pPr indent="0" marL="0">
              <a:buNone/>
            </a:pPr>
            <a:r>
              <a:rPr lang="en-US" sz="1450" b="1" dirty="0">
                <a:solidFill>
                  <a:srgbClr val="20343A"/>
                </a:solidFill>
                <a:latin typeface="Calibri" pitchFamily="34" charset="0"/>
                <a:ea typeface="Calibri" pitchFamily="34" charset="-122"/>
                <a:cs typeface="Calibri" pitchFamily="34" charset="-120"/>
              </a:rPr>
              <a:t>Wind Speed</a:t>
            </a:r>
            <a:endParaRPr lang="en-US" sz="1450" dirty="0"/>
          </a:p>
        </p:txBody>
      </p:sp>
      <p:sp>
        <p:nvSpPr>
          <p:cNvPr id="29" name="Shape 21"/>
          <p:cNvSpPr/>
          <p:nvPr/>
        </p:nvSpPr>
        <p:spPr>
          <a:xfrm>
            <a:off x="745236" y="4160520"/>
            <a:ext cx="2926080" cy="1371600"/>
          </a:xfrm>
          <a:prstGeom prst="roundRect">
            <a:avLst>
              <a:gd name="adj" fmla="val 6667"/>
            </a:avLst>
          </a:prstGeom>
          <a:solidFill>
            <a:srgbClr val="4F8A99"/>
          </a:solidFill>
          <a:ln/>
        </p:spPr>
      </p:sp>
      <p:sp>
        <p:nvSpPr>
          <p:cNvPr id="30" name="Shape 22"/>
          <p:cNvSpPr/>
          <p:nvPr/>
        </p:nvSpPr>
        <p:spPr>
          <a:xfrm>
            <a:off x="1842516" y="4325112"/>
            <a:ext cx="731520" cy="731520"/>
          </a:xfrm>
          <a:prstGeom prst="ellipse">
            <a:avLst/>
          </a:prstGeom>
          <a:solidFill>
            <a:srgbClr val="FFFFFF"/>
          </a:solidFill>
          <a:ln/>
        </p:spPr>
      </p:sp>
      <p:pic>
        <p:nvPicPr>
          <p:cNvPr id="31" name="Image 6" descr="/home/claude/icons/smog_c.png">    </p:cNvPr>
          <p:cNvPicPr>
            <a:picLocks noChangeAspect="1"/>
          </p:cNvPicPr>
          <p:nvPr/>
        </p:nvPicPr>
        <p:blipFill>
          <a:blip r:embed="rId7"/>
          <a:stretch>
            <a:fillRect/>
          </a:stretch>
        </p:blipFill>
        <p:spPr>
          <a:xfrm>
            <a:off x="2032711" y="4515307"/>
            <a:ext cx="351130" cy="351130"/>
          </a:xfrm>
          <a:prstGeom prst="rect">
            <a:avLst/>
          </a:prstGeom>
        </p:spPr>
      </p:pic>
      <p:sp>
        <p:nvSpPr>
          <p:cNvPr id="32" name="Text 23"/>
          <p:cNvSpPr txBox="1"/>
          <p:nvPr/>
        </p:nvSpPr>
        <p:spPr>
          <a:xfrm>
            <a:off x="745236" y="5074920"/>
            <a:ext cx="2926080" cy="45720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Pollutant &amp;</a:t>
            </a:r>
            <a:endParaRPr lang="en-US" sz="1200" dirty="0"/>
          </a:p>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Weather Data</a:t>
            </a:r>
            <a:endParaRPr lang="en-US" sz="1200" dirty="0"/>
          </a:p>
        </p:txBody>
      </p:sp>
      <p:pic>
        <p:nvPicPr>
          <p:cNvPr id="33" name="Image 7" descr="/home/claude/icons/arrowright_c.png">    </p:cNvPr>
          <p:cNvPicPr>
            <a:picLocks noChangeAspect="1"/>
          </p:cNvPicPr>
          <p:nvPr/>
        </p:nvPicPr>
        <p:blipFill>
          <a:blip r:embed="rId8"/>
          <a:stretch>
            <a:fillRect/>
          </a:stretch>
        </p:blipFill>
        <p:spPr>
          <a:xfrm>
            <a:off x="3927348" y="4663440"/>
            <a:ext cx="457200" cy="457200"/>
          </a:xfrm>
          <a:prstGeom prst="rect">
            <a:avLst/>
          </a:prstGeom>
        </p:spPr>
      </p:pic>
      <p:sp>
        <p:nvSpPr>
          <p:cNvPr id="34" name="Shape 24"/>
          <p:cNvSpPr/>
          <p:nvPr/>
        </p:nvSpPr>
        <p:spPr>
          <a:xfrm>
            <a:off x="4631436" y="4160520"/>
            <a:ext cx="2926080" cy="1371600"/>
          </a:xfrm>
          <a:prstGeom prst="roundRect">
            <a:avLst>
              <a:gd name="adj" fmla="val 6667"/>
            </a:avLst>
          </a:prstGeom>
          <a:solidFill>
            <a:srgbClr val="1B4B5A"/>
          </a:solidFill>
          <a:ln/>
        </p:spPr>
      </p:sp>
      <p:sp>
        <p:nvSpPr>
          <p:cNvPr id="35" name="Shape 25"/>
          <p:cNvSpPr/>
          <p:nvPr/>
        </p:nvSpPr>
        <p:spPr>
          <a:xfrm>
            <a:off x="5728716" y="4325112"/>
            <a:ext cx="731520" cy="731520"/>
          </a:xfrm>
          <a:prstGeom prst="ellipse">
            <a:avLst/>
          </a:prstGeom>
          <a:solidFill>
            <a:srgbClr val="FFFFFF"/>
          </a:solidFill>
          <a:ln/>
        </p:spPr>
      </p:sp>
      <p:pic>
        <p:nvPicPr>
          <p:cNvPr id="36" name="Image 8" descr="/home/claude/icons/brain_c.png">    </p:cNvPr>
          <p:cNvPicPr>
            <a:picLocks noChangeAspect="1"/>
          </p:cNvPicPr>
          <p:nvPr/>
        </p:nvPicPr>
        <p:blipFill>
          <a:blip r:embed="rId9"/>
          <a:stretch>
            <a:fillRect/>
          </a:stretch>
        </p:blipFill>
        <p:spPr>
          <a:xfrm>
            <a:off x="5918911" y="4515307"/>
            <a:ext cx="351130" cy="351130"/>
          </a:xfrm>
          <a:prstGeom prst="rect">
            <a:avLst/>
          </a:prstGeom>
        </p:spPr>
      </p:pic>
      <p:sp>
        <p:nvSpPr>
          <p:cNvPr id="37" name="Text 26"/>
          <p:cNvSpPr txBox="1"/>
          <p:nvPr/>
        </p:nvSpPr>
        <p:spPr>
          <a:xfrm>
            <a:off x="4631436" y="5074920"/>
            <a:ext cx="2926080" cy="45720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Random Forest</a:t>
            </a:r>
            <a:endParaRPr lang="en-US" sz="1200" dirty="0"/>
          </a:p>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pic>
        <p:nvPicPr>
          <p:cNvPr id="38" name="Image 9" descr="/home/claude/icons/arrowright_c.png">    </p:cNvPr>
          <p:cNvPicPr>
            <a:picLocks noChangeAspect="1"/>
          </p:cNvPicPr>
          <p:nvPr/>
        </p:nvPicPr>
        <p:blipFill>
          <a:blip r:embed="rId10"/>
          <a:stretch>
            <a:fillRect/>
          </a:stretch>
        </p:blipFill>
        <p:spPr>
          <a:xfrm>
            <a:off x="7813548" y="4663440"/>
            <a:ext cx="457200" cy="457200"/>
          </a:xfrm>
          <a:prstGeom prst="rect">
            <a:avLst/>
          </a:prstGeom>
        </p:spPr>
      </p:pic>
      <p:sp>
        <p:nvSpPr>
          <p:cNvPr id="39" name="Shape 27"/>
          <p:cNvSpPr/>
          <p:nvPr/>
        </p:nvSpPr>
        <p:spPr>
          <a:xfrm>
            <a:off x="8517636" y="4160520"/>
            <a:ext cx="2926080" cy="1371600"/>
          </a:xfrm>
          <a:prstGeom prst="roundRect">
            <a:avLst>
              <a:gd name="adj" fmla="val 6667"/>
            </a:avLst>
          </a:prstGeom>
          <a:solidFill>
            <a:srgbClr val="4F8A99"/>
          </a:solidFill>
          <a:ln/>
        </p:spPr>
      </p:sp>
      <p:sp>
        <p:nvSpPr>
          <p:cNvPr id="40" name="Shape 28"/>
          <p:cNvSpPr/>
          <p:nvPr/>
        </p:nvSpPr>
        <p:spPr>
          <a:xfrm>
            <a:off x="9614916" y="4325112"/>
            <a:ext cx="731520" cy="731520"/>
          </a:xfrm>
          <a:prstGeom prst="ellipse">
            <a:avLst/>
          </a:prstGeom>
          <a:solidFill>
            <a:srgbClr val="FFFFFF"/>
          </a:solidFill>
          <a:ln/>
        </p:spPr>
      </p:sp>
      <p:pic>
        <p:nvPicPr>
          <p:cNvPr id="41" name="Image 10" descr="/home/claude/icons/chart_c.png">    </p:cNvPr>
          <p:cNvPicPr>
            <a:picLocks noChangeAspect="1"/>
          </p:cNvPicPr>
          <p:nvPr/>
        </p:nvPicPr>
        <p:blipFill>
          <a:blip r:embed="rId11"/>
          <a:stretch>
            <a:fillRect/>
          </a:stretch>
        </p:blipFill>
        <p:spPr>
          <a:xfrm>
            <a:off x="9805111" y="4515307"/>
            <a:ext cx="351130" cy="351130"/>
          </a:xfrm>
          <a:prstGeom prst="rect">
            <a:avLst/>
          </a:prstGeom>
        </p:spPr>
      </p:pic>
      <p:sp>
        <p:nvSpPr>
          <p:cNvPr id="42" name="Text 29"/>
          <p:cNvSpPr txBox="1"/>
          <p:nvPr/>
        </p:nvSpPr>
        <p:spPr>
          <a:xfrm>
            <a:off x="8517636" y="5074920"/>
            <a:ext cx="2926080" cy="45720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Air Quality</a:t>
            </a:r>
            <a:endParaRPr lang="en-US" sz="1200" dirty="0"/>
          </a:p>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43" name="Text 30"/>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44" name="Shape 31"/>
          <p:cNvSpPr/>
          <p:nvPr/>
        </p:nvSpPr>
        <p:spPr>
          <a:xfrm>
            <a:off x="11475720" y="6446520"/>
            <a:ext cx="411480" cy="320040"/>
          </a:xfrm>
          <a:prstGeom prst="rect">
            <a:avLst/>
          </a:prstGeom>
          <a:solidFill>
            <a:srgbClr val="1B4B5A">
              <a:alpha val="8000"/>
            </a:srgbClr>
          </a:solidFill>
          <a:ln/>
        </p:spPr>
      </p:sp>
      <p:sp>
        <p:nvSpPr>
          <p:cNvPr id="45" name="Text 32"/>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548640"/>
          </a:xfrm>
          <a:prstGeom prst="rect">
            <a:avLst/>
          </a:prstGeom>
          <a:noFill/>
          <a:ln/>
        </p:spPr>
        <p:txBody>
          <a:bodyPr wrap="square" lIns="0" tIns="0" rIns="0" bIns="0" rtlCol="0" anchor="ctr"/>
          <a:lstStyle/>
          <a:p>
            <a:pPr indent="0" marL="0">
              <a:buNone/>
            </a:pPr>
            <a:r>
              <a:rPr lang="en-US" sz="2800" b="1" dirty="0">
                <a:solidFill>
                  <a:srgbClr val="1B4B5A"/>
                </a:solidFill>
                <a:latin typeface="Cambria" pitchFamily="34" charset="0"/>
                <a:ea typeface="Cambria" pitchFamily="34" charset="-122"/>
                <a:cs typeface="Cambria" pitchFamily="34" charset="-120"/>
              </a:rPr>
              <a:t>Methodology / System Architecture</a:t>
            </a:r>
            <a:endParaRPr lang="en-US" sz="2800" dirty="0"/>
          </a:p>
        </p:txBody>
      </p:sp>
      <p:sp>
        <p:nvSpPr>
          <p:cNvPr id="3" name="Shape 1"/>
          <p:cNvSpPr/>
          <p:nvPr/>
        </p:nvSpPr>
        <p:spPr>
          <a:xfrm>
            <a:off x="548640" y="1005840"/>
            <a:ext cx="11064240" cy="0"/>
          </a:xfrm>
          <a:prstGeom prst="line">
            <a:avLst/>
          </a:prstGeom>
          <a:noFill/>
          <a:ln w="9525">
            <a:solidFill>
              <a:srgbClr val="4F8A99">
                <a:alpha val="40000"/>
              </a:srgbClr>
            </a:solidFill>
            <a:prstDash val="solid"/>
          </a:ln>
        </p:spPr>
      </p:sp>
      <p:sp>
        <p:nvSpPr>
          <p:cNvPr id="4" name="Shape 2"/>
          <p:cNvSpPr/>
          <p:nvPr/>
        </p:nvSpPr>
        <p:spPr>
          <a:xfrm>
            <a:off x="548640" y="14173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5" name="Shape 3"/>
          <p:cNvSpPr/>
          <p:nvPr/>
        </p:nvSpPr>
        <p:spPr>
          <a:xfrm>
            <a:off x="1856232" y="1645920"/>
            <a:ext cx="768096" cy="768096"/>
          </a:xfrm>
          <a:prstGeom prst="ellipse">
            <a:avLst/>
          </a:prstGeom>
          <a:solidFill>
            <a:srgbClr val="1B4B5A"/>
          </a:solidFill>
          <a:ln/>
        </p:spPr>
      </p:sp>
      <p:pic>
        <p:nvPicPr>
          <p:cNvPr id="6" name="Image 0" descr="/home/claude/icons/database_w.png">    </p:cNvPr>
          <p:cNvPicPr>
            <a:picLocks noChangeAspect="1"/>
          </p:cNvPicPr>
          <p:nvPr/>
        </p:nvPicPr>
        <p:blipFill>
          <a:blip r:embed="rId1"/>
          <a:stretch>
            <a:fillRect/>
          </a:stretch>
        </p:blipFill>
        <p:spPr>
          <a:xfrm>
            <a:off x="2055937" y="1845625"/>
            <a:ext cx="368686" cy="368686"/>
          </a:xfrm>
          <a:prstGeom prst="rect">
            <a:avLst/>
          </a:prstGeom>
        </p:spPr>
      </p:pic>
      <p:sp>
        <p:nvSpPr>
          <p:cNvPr id="7" name="Text 4"/>
          <p:cNvSpPr txBox="1"/>
          <p:nvPr/>
        </p:nvSpPr>
        <p:spPr>
          <a:xfrm>
            <a:off x="548640" y="24414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Dataset</a:t>
            </a:r>
            <a:endParaRPr lang="en-US" sz="1300" dirty="0"/>
          </a:p>
        </p:txBody>
      </p:sp>
      <p:sp>
        <p:nvSpPr>
          <p:cNvPr id="8" name="Text 5"/>
          <p:cNvSpPr txBox="1"/>
          <p:nvPr/>
        </p:nvSpPr>
        <p:spPr>
          <a:xfrm>
            <a:off x="658368" y="15087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1</a:t>
            </a:r>
            <a:endParaRPr lang="en-US" sz="1100" dirty="0"/>
          </a:p>
        </p:txBody>
      </p:sp>
      <p:pic>
        <p:nvPicPr>
          <p:cNvPr id="9" name="Image 1" descr="/home/claude/icons/arrowright_c.png">    </p:cNvPr>
          <p:cNvPicPr>
            <a:picLocks noChangeAspect="1"/>
          </p:cNvPicPr>
          <p:nvPr/>
        </p:nvPicPr>
        <p:blipFill>
          <a:blip r:embed="rId2"/>
          <a:stretch>
            <a:fillRect/>
          </a:stretch>
        </p:blipFill>
        <p:spPr>
          <a:xfrm>
            <a:off x="4005072" y="2048256"/>
            <a:ext cx="310896" cy="310896"/>
          </a:xfrm>
          <a:prstGeom prst="rect">
            <a:avLst/>
          </a:prstGeom>
        </p:spPr>
      </p:pic>
      <p:sp>
        <p:nvSpPr>
          <p:cNvPr id="10" name="Shape 6"/>
          <p:cNvSpPr/>
          <p:nvPr/>
        </p:nvSpPr>
        <p:spPr>
          <a:xfrm>
            <a:off x="4389120" y="14173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11" name="Shape 7"/>
          <p:cNvSpPr/>
          <p:nvPr/>
        </p:nvSpPr>
        <p:spPr>
          <a:xfrm>
            <a:off x="5696712" y="1645920"/>
            <a:ext cx="768096" cy="768096"/>
          </a:xfrm>
          <a:prstGeom prst="ellipse">
            <a:avLst/>
          </a:prstGeom>
          <a:solidFill>
            <a:srgbClr val="1B4B5A"/>
          </a:solidFill>
          <a:ln/>
        </p:spPr>
      </p:sp>
      <p:pic>
        <p:nvPicPr>
          <p:cNvPr id="12" name="Image 2" descr="/home/claude/icons/filter_w.png">    </p:cNvPr>
          <p:cNvPicPr>
            <a:picLocks noChangeAspect="1"/>
          </p:cNvPicPr>
          <p:nvPr/>
        </p:nvPicPr>
        <p:blipFill>
          <a:blip r:embed="rId3"/>
          <a:stretch>
            <a:fillRect/>
          </a:stretch>
        </p:blipFill>
        <p:spPr>
          <a:xfrm>
            <a:off x="5896417" y="1845625"/>
            <a:ext cx="368686" cy="368686"/>
          </a:xfrm>
          <a:prstGeom prst="rect">
            <a:avLst/>
          </a:prstGeom>
        </p:spPr>
      </p:pic>
      <p:sp>
        <p:nvSpPr>
          <p:cNvPr id="13" name="Text 8"/>
          <p:cNvSpPr txBox="1"/>
          <p:nvPr/>
        </p:nvSpPr>
        <p:spPr>
          <a:xfrm>
            <a:off x="4389120" y="24414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Preprocessing</a:t>
            </a:r>
            <a:endParaRPr lang="en-US" sz="1300" dirty="0"/>
          </a:p>
        </p:txBody>
      </p:sp>
      <p:sp>
        <p:nvSpPr>
          <p:cNvPr id="14" name="Text 9"/>
          <p:cNvSpPr txBox="1"/>
          <p:nvPr/>
        </p:nvSpPr>
        <p:spPr>
          <a:xfrm>
            <a:off x="4498848" y="15087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2</a:t>
            </a:r>
            <a:endParaRPr lang="en-US" sz="1100" dirty="0"/>
          </a:p>
        </p:txBody>
      </p:sp>
      <p:pic>
        <p:nvPicPr>
          <p:cNvPr id="15" name="Image 3" descr="/home/claude/icons/arrowright_c.png">    </p:cNvPr>
          <p:cNvPicPr>
            <a:picLocks noChangeAspect="1"/>
          </p:cNvPicPr>
          <p:nvPr/>
        </p:nvPicPr>
        <p:blipFill>
          <a:blip r:embed="rId4"/>
          <a:stretch>
            <a:fillRect/>
          </a:stretch>
        </p:blipFill>
        <p:spPr>
          <a:xfrm>
            <a:off x="7845552" y="2048256"/>
            <a:ext cx="310896" cy="310896"/>
          </a:xfrm>
          <a:prstGeom prst="rect">
            <a:avLst/>
          </a:prstGeom>
        </p:spPr>
      </p:pic>
      <p:sp>
        <p:nvSpPr>
          <p:cNvPr id="16" name="Shape 10"/>
          <p:cNvSpPr/>
          <p:nvPr/>
        </p:nvSpPr>
        <p:spPr>
          <a:xfrm>
            <a:off x="8229600" y="14173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17" name="Shape 11"/>
          <p:cNvSpPr/>
          <p:nvPr/>
        </p:nvSpPr>
        <p:spPr>
          <a:xfrm>
            <a:off x="9537192" y="1645920"/>
            <a:ext cx="768096" cy="768096"/>
          </a:xfrm>
          <a:prstGeom prst="ellipse">
            <a:avLst/>
          </a:prstGeom>
          <a:solidFill>
            <a:srgbClr val="1B4B5A"/>
          </a:solidFill>
          <a:ln/>
        </p:spPr>
      </p:sp>
      <p:pic>
        <p:nvPicPr>
          <p:cNvPr id="18" name="Image 4" descr="/home/claude/icons/split_w.png">    </p:cNvPr>
          <p:cNvPicPr>
            <a:picLocks noChangeAspect="1"/>
          </p:cNvPicPr>
          <p:nvPr/>
        </p:nvPicPr>
        <p:blipFill>
          <a:blip r:embed="rId5"/>
          <a:stretch>
            <a:fillRect/>
          </a:stretch>
        </p:blipFill>
        <p:spPr>
          <a:xfrm>
            <a:off x="9736897" y="1845625"/>
            <a:ext cx="368686" cy="368686"/>
          </a:xfrm>
          <a:prstGeom prst="rect">
            <a:avLst/>
          </a:prstGeom>
        </p:spPr>
      </p:pic>
      <p:sp>
        <p:nvSpPr>
          <p:cNvPr id="19" name="Text 12"/>
          <p:cNvSpPr txBox="1"/>
          <p:nvPr/>
        </p:nvSpPr>
        <p:spPr>
          <a:xfrm>
            <a:off x="8229600" y="24414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Train-Test Split</a:t>
            </a:r>
            <a:endParaRPr lang="en-US" sz="1300" dirty="0"/>
          </a:p>
        </p:txBody>
      </p:sp>
      <p:sp>
        <p:nvSpPr>
          <p:cNvPr id="20" name="Text 13"/>
          <p:cNvSpPr txBox="1"/>
          <p:nvPr/>
        </p:nvSpPr>
        <p:spPr>
          <a:xfrm>
            <a:off x="8339328" y="15087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3</a:t>
            </a:r>
            <a:endParaRPr lang="en-US" sz="1100" dirty="0"/>
          </a:p>
        </p:txBody>
      </p:sp>
      <p:sp>
        <p:nvSpPr>
          <p:cNvPr id="21" name="Shape 14"/>
          <p:cNvSpPr/>
          <p:nvPr/>
        </p:nvSpPr>
        <p:spPr>
          <a:xfrm>
            <a:off x="548640" y="34747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22" name="Shape 15"/>
          <p:cNvSpPr/>
          <p:nvPr/>
        </p:nvSpPr>
        <p:spPr>
          <a:xfrm>
            <a:off x="1856232" y="3703320"/>
            <a:ext cx="768096" cy="768096"/>
          </a:xfrm>
          <a:prstGeom prst="ellipse">
            <a:avLst/>
          </a:prstGeom>
          <a:solidFill>
            <a:srgbClr val="E8873A"/>
          </a:solidFill>
          <a:ln/>
        </p:spPr>
      </p:sp>
      <p:pic>
        <p:nvPicPr>
          <p:cNvPr id="23" name="Image 5" descr="/home/claude/icons/tree_w.png">    </p:cNvPr>
          <p:cNvPicPr>
            <a:picLocks noChangeAspect="1"/>
          </p:cNvPicPr>
          <p:nvPr/>
        </p:nvPicPr>
        <p:blipFill>
          <a:blip r:embed="rId6"/>
          <a:stretch>
            <a:fillRect/>
          </a:stretch>
        </p:blipFill>
        <p:spPr>
          <a:xfrm>
            <a:off x="2055937" y="3903025"/>
            <a:ext cx="368686" cy="368686"/>
          </a:xfrm>
          <a:prstGeom prst="rect">
            <a:avLst/>
          </a:prstGeom>
        </p:spPr>
      </p:pic>
      <p:sp>
        <p:nvSpPr>
          <p:cNvPr id="24" name="Text 16"/>
          <p:cNvSpPr txBox="1"/>
          <p:nvPr/>
        </p:nvSpPr>
        <p:spPr>
          <a:xfrm>
            <a:off x="548640" y="44988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Random Forest</a:t>
            </a:r>
            <a:endParaRPr lang="en-US" sz="1300" dirty="0"/>
          </a:p>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Training</a:t>
            </a:r>
            <a:endParaRPr lang="en-US" sz="1300" dirty="0"/>
          </a:p>
        </p:txBody>
      </p:sp>
      <p:sp>
        <p:nvSpPr>
          <p:cNvPr id="25" name="Text 17"/>
          <p:cNvSpPr txBox="1"/>
          <p:nvPr/>
        </p:nvSpPr>
        <p:spPr>
          <a:xfrm>
            <a:off x="658368" y="35661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4</a:t>
            </a:r>
            <a:endParaRPr lang="en-US" sz="1100" dirty="0"/>
          </a:p>
        </p:txBody>
      </p:sp>
      <p:pic>
        <p:nvPicPr>
          <p:cNvPr id="26" name="Image 6" descr="/home/claude/icons/arrowright_c.png">    </p:cNvPr>
          <p:cNvPicPr>
            <a:picLocks noChangeAspect="1"/>
          </p:cNvPicPr>
          <p:nvPr/>
        </p:nvPicPr>
        <p:blipFill>
          <a:blip r:embed="rId7"/>
          <a:stretch>
            <a:fillRect/>
          </a:stretch>
        </p:blipFill>
        <p:spPr>
          <a:xfrm>
            <a:off x="4005072" y="4105656"/>
            <a:ext cx="310896" cy="310896"/>
          </a:xfrm>
          <a:prstGeom prst="rect">
            <a:avLst/>
          </a:prstGeom>
        </p:spPr>
      </p:pic>
      <p:sp>
        <p:nvSpPr>
          <p:cNvPr id="27" name="Shape 18"/>
          <p:cNvSpPr/>
          <p:nvPr/>
        </p:nvSpPr>
        <p:spPr>
          <a:xfrm>
            <a:off x="4389120" y="34747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28" name="Shape 19"/>
          <p:cNvSpPr/>
          <p:nvPr/>
        </p:nvSpPr>
        <p:spPr>
          <a:xfrm>
            <a:off x="5696712" y="3703320"/>
            <a:ext cx="768096" cy="768096"/>
          </a:xfrm>
          <a:prstGeom prst="ellipse">
            <a:avLst/>
          </a:prstGeom>
          <a:solidFill>
            <a:srgbClr val="E8873A"/>
          </a:solidFill>
          <a:ln/>
        </p:spPr>
      </p:sp>
      <p:pic>
        <p:nvPicPr>
          <p:cNvPr id="29" name="Image 7" descr="/home/claude/icons/compare_w.png">    </p:cNvPr>
          <p:cNvPicPr>
            <a:picLocks noChangeAspect="1"/>
          </p:cNvPicPr>
          <p:nvPr/>
        </p:nvPicPr>
        <p:blipFill>
          <a:blip r:embed="rId8"/>
          <a:stretch>
            <a:fillRect/>
          </a:stretch>
        </p:blipFill>
        <p:spPr>
          <a:xfrm>
            <a:off x="5896417" y="3903025"/>
            <a:ext cx="368686" cy="368686"/>
          </a:xfrm>
          <a:prstGeom prst="rect">
            <a:avLst/>
          </a:prstGeom>
        </p:spPr>
      </p:pic>
      <p:sp>
        <p:nvSpPr>
          <p:cNvPr id="30" name="Text 20"/>
          <p:cNvSpPr txBox="1"/>
          <p:nvPr/>
        </p:nvSpPr>
        <p:spPr>
          <a:xfrm>
            <a:off x="4389120" y="44988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Feature Importance</a:t>
            </a:r>
            <a:endParaRPr lang="en-US" sz="1300" dirty="0"/>
          </a:p>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Extraction</a:t>
            </a:r>
            <a:endParaRPr lang="en-US" sz="1300" dirty="0"/>
          </a:p>
        </p:txBody>
      </p:sp>
      <p:sp>
        <p:nvSpPr>
          <p:cNvPr id="31" name="Text 21"/>
          <p:cNvSpPr txBox="1"/>
          <p:nvPr/>
        </p:nvSpPr>
        <p:spPr>
          <a:xfrm>
            <a:off x="4498848" y="35661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5</a:t>
            </a:r>
            <a:endParaRPr lang="en-US" sz="1100" dirty="0"/>
          </a:p>
        </p:txBody>
      </p:sp>
      <p:pic>
        <p:nvPicPr>
          <p:cNvPr id="32" name="Image 8" descr="/home/claude/icons/arrowright_c.png">    </p:cNvPr>
          <p:cNvPicPr>
            <a:picLocks noChangeAspect="1"/>
          </p:cNvPicPr>
          <p:nvPr/>
        </p:nvPicPr>
        <p:blipFill>
          <a:blip r:embed="rId9"/>
          <a:stretch>
            <a:fillRect/>
          </a:stretch>
        </p:blipFill>
        <p:spPr>
          <a:xfrm>
            <a:off x="7845552" y="4105656"/>
            <a:ext cx="310896" cy="310896"/>
          </a:xfrm>
          <a:prstGeom prst="rect">
            <a:avLst/>
          </a:prstGeom>
        </p:spPr>
      </p:pic>
      <p:sp>
        <p:nvSpPr>
          <p:cNvPr id="33" name="Shape 22"/>
          <p:cNvSpPr/>
          <p:nvPr/>
        </p:nvSpPr>
        <p:spPr>
          <a:xfrm>
            <a:off x="8229600" y="3474720"/>
            <a:ext cx="3383280" cy="1554480"/>
          </a:xfrm>
          <a:prstGeom prst="roundRect">
            <a:avLst>
              <a:gd name="adj" fmla="val 5882"/>
            </a:avLst>
          </a:prstGeom>
          <a:solidFill>
            <a:srgbClr val="FFFFFF"/>
          </a:solidFill>
          <a:ln/>
          <a:effectLst>
            <a:outerShdw sx="100000" sy="100000" kx="0" ky="0" algn="bl" rotWithShape="0" blurRad="76200" dist="25400" dir="5400000">
              <a:srgbClr val="1B4B5A">
                <a:alpha val="12000"/>
              </a:srgbClr>
            </a:outerShdw>
          </a:effectLst>
        </p:spPr>
      </p:sp>
      <p:sp>
        <p:nvSpPr>
          <p:cNvPr id="34" name="Shape 23"/>
          <p:cNvSpPr/>
          <p:nvPr/>
        </p:nvSpPr>
        <p:spPr>
          <a:xfrm>
            <a:off x="9537192" y="3703320"/>
            <a:ext cx="768096" cy="768096"/>
          </a:xfrm>
          <a:prstGeom prst="ellipse">
            <a:avLst/>
          </a:prstGeom>
          <a:solidFill>
            <a:srgbClr val="E8873A"/>
          </a:solidFill>
          <a:ln/>
        </p:spPr>
      </p:sp>
      <p:pic>
        <p:nvPicPr>
          <p:cNvPr id="35" name="Image 9" descr="/home/claude/icons/check_w.png">    </p:cNvPr>
          <p:cNvPicPr>
            <a:picLocks noChangeAspect="1"/>
          </p:cNvPicPr>
          <p:nvPr/>
        </p:nvPicPr>
        <p:blipFill>
          <a:blip r:embed="rId10"/>
          <a:stretch>
            <a:fillRect/>
          </a:stretch>
        </p:blipFill>
        <p:spPr>
          <a:xfrm>
            <a:off x="9736897" y="3903025"/>
            <a:ext cx="368686" cy="368686"/>
          </a:xfrm>
          <a:prstGeom prst="rect">
            <a:avLst/>
          </a:prstGeom>
        </p:spPr>
      </p:pic>
      <p:sp>
        <p:nvSpPr>
          <p:cNvPr id="36" name="Text 24"/>
          <p:cNvSpPr txBox="1"/>
          <p:nvPr/>
        </p:nvSpPr>
        <p:spPr>
          <a:xfrm>
            <a:off x="8229600" y="4498848"/>
            <a:ext cx="3383280" cy="457200"/>
          </a:xfrm>
          <a:prstGeom prst="rect">
            <a:avLst/>
          </a:prstGeom>
          <a:noFill/>
          <a:ln/>
        </p:spPr>
        <p:txBody>
          <a:bodyPr wrap="square" lIns="0" tIns="0" rIns="0" bIns="0" rtlCol="0" anchor="ctr"/>
          <a:lstStyle/>
          <a:p>
            <a:pPr algn="ctr" indent="0" marL="0">
              <a:lnSpc>
                <a:spcPct val="100000"/>
              </a:lnSpc>
              <a:buNone/>
            </a:pPr>
            <a:r>
              <a:rPr lang="en-US" sz="1300" b="1" dirty="0">
                <a:solidFill>
                  <a:srgbClr val="20343A"/>
                </a:solidFill>
                <a:latin typeface="Calibri" pitchFamily="34" charset="0"/>
                <a:ea typeface="Calibri" pitchFamily="34" charset="-122"/>
                <a:cs typeface="Calibri" pitchFamily="34" charset="-120"/>
              </a:rPr>
              <a:t>Evaluation</a:t>
            </a:r>
            <a:endParaRPr lang="en-US" sz="1300" dirty="0"/>
          </a:p>
        </p:txBody>
      </p:sp>
      <p:sp>
        <p:nvSpPr>
          <p:cNvPr id="37" name="Text 25"/>
          <p:cNvSpPr txBox="1"/>
          <p:nvPr/>
        </p:nvSpPr>
        <p:spPr>
          <a:xfrm>
            <a:off x="8339328" y="3566160"/>
            <a:ext cx="365760" cy="274320"/>
          </a:xfrm>
          <a:prstGeom prst="rect">
            <a:avLst/>
          </a:prstGeom>
          <a:noFill/>
          <a:ln/>
        </p:spPr>
        <p:txBody>
          <a:bodyPr wrap="square" lIns="0" tIns="0" rIns="0" bIns="0" rtlCol="0" anchor="ctr"/>
          <a:lstStyle/>
          <a:p>
            <a:pPr indent="0" marL="0">
              <a:buNone/>
            </a:pPr>
            <a:r>
              <a:rPr lang="en-US" sz="1100" b="1" dirty="0">
                <a:solidFill>
                  <a:srgbClr val="5C7378"/>
                </a:solidFill>
                <a:latin typeface="Calibri" pitchFamily="34" charset="0"/>
                <a:ea typeface="Calibri" pitchFamily="34" charset="-122"/>
                <a:cs typeface="Calibri" pitchFamily="34" charset="-120"/>
              </a:rPr>
              <a:t>6</a:t>
            </a:r>
            <a:endParaRPr lang="en-US" sz="1100" dirty="0"/>
          </a:p>
        </p:txBody>
      </p:sp>
      <p:pic>
        <p:nvPicPr>
          <p:cNvPr id="38" name="Image 10" descr="/home/claude/icons/arrowright_c.png">    </p:cNvPr>
          <p:cNvPicPr>
            <a:picLocks noChangeAspect="1"/>
          </p:cNvPicPr>
          <p:nvPr/>
        </p:nvPicPr>
        <p:blipFill>
          <a:blip r:embed="rId11"/>
          <a:stretch>
            <a:fillRect/>
          </a:stretch>
        </p:blipFill>
        <p:spPr>
          <a:xfrm rot="5400000">
            <a:off x="2084832" y="3044952"/>
            <a:ext cx="310896" cy="310896"/>
          </a:xfrm>
          <a:prstGeom prst="rect">
            <a:avLst/>
          </a:prstGeom>
        </p:spPr>
      </p:pic>
      <p:sp>
        <p:nvSpPr>
          <p:cNvPr id="39" name="Text 26"/>
          <p:cNvSpPr txBox="1"/>
          <p:nvPr/>
        </p:nvSpPr>
        <p:spPr>
          <a:xfrm>
            <a:off x="548640" y="5074920"/>
            <a:ext cx="11064240" cy="365760"/>
          </a:xfrm>
          <a:prstGeom prst="rect">
            <a:avLst/>
          </a:prstGeom>
          <a:noFill/>
          <a:ln/>
        </p:spPr>
        <p:txBody>
          <a:bodyPr wrap="square" lIns="0" tIns="0" rIns="0" bIns="0" rtlCol="0" anchor="ctr"/>
          <a:lstStyle/>
          <a:p>
            <a:pPr algn="ctr" indent="0" marL="0">
              <a:buNone/>
            </a:pPr>
            <a:r>
              <a:rPr lang="en-US" sz="1250" i="1" dirty="0">
                <a:solidFill>
                  <a:srgbClr val="5C7378"/>
                </a:solidFill>
                <a:latin typeface="Calibri" pitchFamily="34" charset="0"/>
                <a:ea typeface="Calibri" pitchFamily="34" charset="-122"/>
                <a:cs typeface="Calibri" pitchFamily="34" charset="-120"/>
              </a:rPr>
              <a:t>Raw sensor and weather data flows through preprocessing and splitting into a Random Forest model, whose feature importances and predictions are evaluated.</a:t>
            </a:r>
            <a:endParaRPr lang="en-US" sz="1250" dirty="0"/>
          </a:p>
        </p:txBody>
      </p:sp>
      <p:sp>
        <p:nvSpPr>
          <p:cNvPr id="40" name="Text 27"/>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41" name="Shape 28"/>
          <p:cNvSpPr/>
          <p:nvPr/>
        </p:nvSpPr>
        <p:spPr>
          <a:xfrm>
            <a:off x="11475720" y="6446520"/>
            <a:ext cx="411480" cy="320040"/>
          </a:xfrm>
          <a:prstGeom prst="rect">
            <a:avLst/>
          </a:prstGeom>
          <a:solidFill>
            <a:srgbClr val="1B4B5A">
              <a:alpha val="8000"/>
            </a:srgbClr>
          </a:solidFill>
          <a:ln/>
        </p:spPr>
      </p:sp>
      <p:sp>
        <p:nvSpPr>
          <p:cNvPr id="42" name="Text 29"/>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2800" b="1" dirty="0">
                <a:solidFill>
                  <a:srgbClr val="1B4B5A"/>
                </a:solidFill>
                <a:latin typeface="Cambria" pitchFamily="34" charset="0"/>
                <a:ea typeface="Cambria" pitchFamily="34" charset="-122"/>
                <a:cs typeface="Cambria" pitchFamily="34" charset="-120"/>
              </a:rPr>
              <a:t>Understanding Random Forest</a:t>
            </a:r>
            <a:endParaRPr lang="en-US" sz="2800" dirty="0"/>
          </a:p>
        </p:txBody>
      </p:sp>
      <p:sp>
        <p:nvSpPr>
          <p:cNvPr id="3" name="Shape 1"/>
          <p:cNvSpPr/>
          <p:nvPr/>
        </p:nvSpPr>
        <p:spPr>
          <a:xfrm>
            <a:off x="548640" y="1005840"/>
            <a:ext cx="11064240" cy="0"/>
          </a:xfrm>
          <a:prstGeom prst="line">
            <a:avLst/>
          </a:prstGeom>
          <a:noFill/>
          <a:ln w="9525">
            <a:solidFill>
              <a:srgbClr val="4F8A99">
                <a:alpha val="40000"/>
              </a:srgbClr>
            </a:solidFill>
            <a:prstDash val="solid"/>
          </a:ln>
        </p:spPr>
      </p:sp>
      <p:sp>
        <p:nvSpPr>
          <p:cNvPr id="4" name="Shape 2"/>
          <p:cNvSpPr/>
          <p:nvPr/>
        </p:nvSpPr>
        <p:spPr>
          <a:xfrm>
            <a:off x="548640" y="1371600"/>
            <a:ext cx="5257800" cy="4754880"/>
          </a:xfrm>
          <a:prstGeom prst="roundRect">
            <a:avLst>
              <a:gd name="adj" fmla="val 1923"/>
            </a:avLst>
          </a:prstGeom>
          <a:solidFill>
            <a:srgbClr val="FFFFFF"/>
          </a:solidFill>
          <a:ln/>
          <a:effectLst>
            <a:outerShdw sx="100000" sy="100000" kx="0" ky="0" algn="bl" rotWithShape="0" blurRad="76200" dist="25400" dir="5400000">
              <a:srgbClr val="1B4B5A">
                <a:alpha val="10000"/>
              </a:srgbClr>
            </a:outerShdw>
          </a:effectLst>
        </p:spPr>
      </p:sp>
      <p:sp>
        <p:nvSpPr>
          <p:cNvPr id="5" name="Shape 3"/>
          <p:cNvSpPr/>
          <p:nvPr/>
        </p:nvSpPr>
        <p:spPr>
          <a:xfrm>
            <a:off x="868680" y="1645920"/>
            <a:ext cx="640080" cy="640080"/>
          </a:xfrm>
          <a:prstGeom prst="ellipse">
            <a:avLst/>
          </a:prstGeom>
          <a:solidFill>
            <a:srgbClr val="1B4B5A"/>
          </a:solidFill>
          <a:ln/>
        </p:spPr>
      </p:sp>
      <p:pic>
        <p:nvPicPr>
          <p:cNvPr id="6" name="Image 0" descr="/home/claude/icons/tree_w.png">    </p:cNvPr>
          <p:cNvPicPr>
            <a:picLocks noChangeAspect="1"/>
          </p:cNvPicPr>
          <p:nvPr/>
        </p:nvPicPr>
        <p:blipFill>
          <a:blip r:embed="rId1"/>
          <a:stretch>
            <a:fillRect/>
          </a:stretch>
        </p:blipFill>
        <p:spPr>
          <a:xfrm>
            <a:off x="1035101" y="1812341"/>
            <a:ext cx="307238" cy="307238"/>
          </a:xfrm>
          <a:prstGeom prst="rect">
            <a:avLst/>
          </a:prstGeom>
        </p:spPr>
      </p:pic>
      <p:sp>
        <p:nvSpPr>
          <p:cNvPr id="7" name="Text 4"/>
          <p:cNvSpPr txBox="1"/>
          <p:nvPr/>
        </p:nvSpPr>
        <p:spPr>
          <a:xfrm>
            <a:off x="1691640" y="1691640"/>
            <a:ext cx="3977640" cy="548640"/>
          </a:xfrm>
          <a:prstGeom prst="rect">
            <a:avLst/>
          </a:prstGeom>
          <a:noFill/>
          <a:ln/>
        </p:spPr>
        <p:txBody>
          <a:bodyPr wrap="square" lIns="0" tIns="0" rIns="0" bIns="0" rtlCol="0" anchor="ctr"/>
          <a:lstStyle/>
          <a:p>
            <a:pPr indent="0" marL="0">
              <a:buNone/>
            </a:pPr>
            <a:r>
              <a:rPr lang="en-US" sz="1700" b="1" dirty="0">
                <a:solidFill>
                  <a:srgbClr val="20343A"/>
                </a:solidFill>
                <a:latin typeface="Calibri" pitchFamily="34" charset="0"/>
                <a:ea typeface="Calibri" pitchFamily="34" charset="-122"/>
                <a:cs typeface="Calibri" pitchFamily="34" charset="-120"/>
              </a:rPr>
              <a:t>What Is a Random Forest?</a:t>
            </a:r>
            <a:endParaRPr lang="en-US" sz="1700" dirty="0"/>
          </a:p>
        </p:txBody>
      </p:sp>
      <p:sp>
        <p:nvSpPr>
          <p:cNvPr id="8" name="Text 5"/>
          <p:cNvSpPr txBox="1"/>
          <p:nvPr/>
        </p:nvSpPr>
        <p:spPr>
          <a:xfrm>
            <a:off x="868680" y="2423160"/>
            <a:ext cx="4617720" cy="34747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5C7378"/>
                </a:solidFill>
                <a:latin typeface="Calibri" pitchFamily="34" charset="0"/>
                <a:ea typeface="Calibri" pitchFamily="34" charset="-122"/>
                <a:cs typeface="Calibri" pitchFamily="34" charset="-120"/>
              </a:rPr>
              <a:t>It's basically a big bunch of decision trees, and each one is trained on a random slice of the data and features - that's the “bagging” part.</a:t>
            </a:r>
            <a:endParaRPr lang="en-US" sz="1350" dirty="0"/>
          </a:p>
          <a:p>
            <a:pPr marL="342900" indent="-342900">
              <a:lnSpc>
                <a:spcPct val="120000"/>
              </a:lnSpc>
              <a:spcAft>
                <a:spcPts val="1200"/>
              </a:spcAft>
              <a:buSzPct val="100000"/>
              <a:buChar char="•"/>
            </a:pPr>
            <a:r>
              <a:rPr lang="en-US" sz="1350" dirty="0">
                <a:solidFill>
                  <a:srgbClr val="5C7378"/>
                </a:solidFill>
                <a:latin typeface="Calibri" pitchFamily="34" charset="0"/>
                <a:ea typeface="Calibri" pitchFamily="34" charset="-122"/>
                <a:cs typeface="Calibri" pitchFamily="34" charset="-120"/>
              </a:rPr>
              <a:t>Every tree makes its own guess, and the forest just takes the average (or majority vote) of all of them.</a:t>
            </a:r>
            <a:endParaRPr lang="en-US" sz="1350" dirty="0"/>
          </a:p>
          <a:p>
            <a:pPr marL="342900" indent="-342900">
              <a:lnSpc>
                <a:spcPct val="120000"/>
              </a:lnSpc>
              <a:spcAft>
                <a:spcPts val="1200"/>
              </a:spcAft>
              <a:buSzPct val="100000"/>
              <a:buChar char="•"/>
            </a:pPr>
            <a:r>
              <a:rPr lang="en-US" sz="1350" dirty="0">
                <a:solidFill>
                  <a:srgbClr val="5C7378"/>
                </a:solidFill>
                <a:latin typeface="Calibri" pitchFamily="34" charset="0"/>
                <a:ea typeface="Calibri" pitchFamily="34" charset="-122"/>
                <a:cs typeface="Calibri" pitchFamily="34" charset="-120"/>
              </a:rPr>
              <a:t>Because you're combining so many trees, one weird/overfit tree doesn't throw off the whole result - a single decision tree alone would be much shakier.</a:t>
            </a:r>
            <a:endParaRPr lang="en-US" sz="1350" dirty="0"/>
          </a:p>
        </p:txBody>
      </p:sp>
      <p:sp>
        <p:nvSpPr>
          <p:cNvPr id="9" name="Shape 6"/>
          <p:cNvSpPr/>
          <p:nvPr/>
        </p:nvSpPr>
        <p:spPr>
          <a:xfrm>
            <a:off x="6355080" y="1371600"/>
            <a:ext cx="5257800" cy="4754880"/>
          </a:xfrm>
          <a:prstGeom prst="roundRect">
            <a:avLst>
              <a:gd name="adj" fmla="val 1923"/>
            </a:avLst>
          </a:prstGeom>
          <a:solidFill>
            <a:srgbClr val="1B4B5A"/>
          </a:solidFill>
          <a:ln/>
        </p:spPr>
      </p:sp>
      <p:sp>
        <p:nvSpPr>
          <p:cNvPr id="10" name="Shape 7"/>
          <p:cNvSpPr/>
          <p:nvPr/>
        </p:nvSpPr>
        <p:spPr>
          <a:xfrm>
            <a:off x="6675120" y="1645920"/>
            <a:ext cx="640080" cy="640080"/>
          </a:xfrm>
          <a:prstGeom prst="ellipse">
            <a:avLst/>
          </a:prstGeom>
          <a:solidFill>
            <a:srgbClr val="E8873A"/>
          </a:solidFill>
          <a:ln/>
        </p:spPr>
      </p:sp>
      <p:pic>
        <p:nvPicPr>
          <p:cNvPr id="11" name="Image 1" descr="/home/claude/icons/check_w.png">    </p:cNvPr>
          <p:cNvPicPr>
            <a:picLocks noChangeAspect="1"/>
          </p:cNvPicPr>
          <p:nvPr/>
        </p:nvPicPr>
        <p:blipFill>
          <a:blip r:embed="rId2"/>
          <a:stretch>
            <a:fillRect/>
          </a:stretch>
        </p:blipFill>
        <p:spPr>
          <a:xfrm>
            <a:off x="6841541" y="1812341"/>
            <a:ext cx="307238" cy="307238"/>
          </a:xfrm>
          <a:prstGeom prst="rect">
            <a:avLst/>
          </a:prstGeom>
        </p:spPr>
      </p:pic>
      <p:sp>
        <p:nvSpPr>
          <p:cNvPr id="12" name="Text 8"/>
          <p:cNvSpPr txBox="1"/>
          <p:nvPr/>
        </p:nvSpPr>
        <p:spPr>
          <a:xfrm>
            <a:off x="7498080" y="1691640"/>
            <a:ext cx="37947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Why Random Forest for This Task?</a:t>
            </a:r>
            <a:endParaRPr lang="en-US" sz="1700" dirty="0"/>
          </a:p>
        </p:txBody>
      </p:sp>
      <p:sp>
        <p:nvSpPr>
          <p:cNvPr id="13" name="Text 9"/>
          <p:cNvSpPr txBox="1"/>
          <p:nvPr/>
        </p:nvSpPr>
        <p:spPr>
          <a:xfrm>
            <a:off x="6675120" y="2423160"/>
            <a:ext cx="4617720" cy="347472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DCE9EC"/>
                </a:solidFill>
                <a:latin typeface="Calibri" pitchFamily="34" charset="0"/>
                <a:ea typeface="Calibri" pitchFamily="34" charset="-122"/>
                <a:cs typeface="Calibri" pitchFamily="34" charset="-120"/>
              </a:rPr>
              <a:t>Pollution and weather don't relate in a straight line, and Random Forest is good at picking up that kind of messy, non-linear behaviour.</a:t>
            </a:r>
            <a:endParaRPr lang="en-US" sz="1350" dirty="0"/>
          </a:p>
          <a:p>
            <a:pPr marL="342900" indent="-342900">
              <a:lnSpc>
                <a:spcPct val="120000"/>
              </a:lnSpc>
              <a:spcAft>
                <a:spcPts val="1200"/>
              </a:spcAft>
              <a:buSzPct val="100000"/>
              <a:buChar char="•"/>
            </a:pPr>
            <a:r>
              <a:rPr lang="en-US" sz="1350" dirty="0">
                <a:solidFill>
                  <a:srgbClr val="DCE9EC"/>
                </a:solidFill>
                <a:latin typeface="Calibri" pitchFamily="34" charset="0"/>
                <a:ea typeface="Calibri" pitchFamily="34" charset="-122"/>
                <a:cs typeface="Calibri" pitchFamily="34" charset="-120"/>
              </a:rPr>
              <a:t>It gives us feature importance scores for free once it's trained - no extra work needed.</a:t>
            </a:r>
            <a:endParaRPr lang="en-US" sz="1350" dirty="0"/>
          </a:p>
          <a:p>
            <a:pPr marL="342900" indent="-342900">
              <a:lnSpc>
                <a:spcPct val="120000"/>
              </a:lnSpc>
              <a:spcAft>
                <a:spcPts val="1200"/>
              </a:spcAft>
              <a:buSzPct val="100000"/>
              <a:buChar char="•"/>
            </a:pPr>
            <a:r>
              <a:rPr lang="en-US" sz="1350" dirty="0">
                <a:solidFill>
                  <a:srgbClr val="DCE9EC"/>
                </a:solidFill>
                <a:latin typeface="Calibri" pitchFamily="34" charset="0"/>
                <a:ea typeface="Calibri" pitchFamily="34" charset="-122"/>
                <a:cs typeface="Calibri" pitchFamily="34" charset="-120"/>
              </a:rPr>
              <a:t>Real sensor data is noisy, and this model doesn't fall apart because of a few bad readings.</a:t>
            </a:r>
            <a:endParaRPr lang="en-US" sz="1350" dirty="0"/>
          </a:p>
          <a:p>
            <a:pPr marL="342900" indent="-342900">
              <a:lnSpc>
                <a:spcPct val="120000"/>
              </a:lnSpc>
              <a:spcAft>
                <a:spcPts val="1200"/>
              </a:spcAft>
              <a:buSzPct val="100000"/>
              <a:buChar char="•"/>
            </a:pPr>
            <a:r>
              <a:rPr lang="en-US" sz="1350" dirty="0">
                <a:solidFill>
                  <a:srgbClr val="DCE9EC"/>
                </a:solidFill>
                <a:latin typeface="Calibri" pitchFamily="34" charset="0"/>
                <a:ea typeface="Calibri" pitchFamily="34" charset="-122"/>
                <a:cs typeface="Calibri" pitchFamily="34" charset="-120"/>
              </a:rPr>
              <a:t>We didn't need to spend much time tuning it to get decent results, which helped given our timeline.</a:t>
            </a:r>
            <a:endParaRPr lang="en-US" sz="1350" dirty="0"/>
          </a:p>
        </p:txBody>
      </p:sp>
      <p:sp>
        <p:nvSpPr>
          <p:cNvPr id="14" name="Text 10"/>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15" name="Shape 11"/>
          <p:cNvSpPr/>
          <p:nvPr/>
        </p:nvSpPr>
        <p:spPr>
          <a:xfrm>
            <a:off x="11475720" y="6446520"/>
            <a:ext cx="411480" cy="320040"/>
          </a:xfrm>
          <a:prstGeom prst="rect">
            <a:avLst/>
          </a:prstGeom>
          <a:solidFill>
            <a:srgbClr val="1B4B5A">
              <a:alpha val="8000"/>
            </a:srgbClr>
          </a:solidFill>
          <a:ln/>
        </p:spPr>
      </p:sp>
      <p:sp>
        <p:nvSpPr>
          <p:cNvPr id="16" name="Text 12"/>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2800" b="1" dirty="0">
                <a:solidFill>
                  <a:srgbClr val="1B4B5A"/>
                </a:solidFill>
                <a:latin typeface="Cambria" pitchFamily="34" charset="0"/>
                <a:ea typeface="Cambria" pitchFamily="34" charset="-122"/>
                <a:cs typeface="Cambria" pitchFamily="34" charset="-120"/>
              </a:rPr>
              <a:t>Feature Importance Analysis</a:t>
            </a:r>
            <a:endParaRPr lang="en-US" sz="2800" dirty="0"/>
          </a:p>
        </p:txBody>
      </p:sp>
      <p:sp>
        <p:nvSpPr>
          <p:cNvPr id="3" name="Shape 1"/>
          <p:cNvSpPr/>
          <p:nvPr/>
        </p:nvSpPr>
        <p:spPr>
          <a:xfrm>
            <a:off x="548640" y="1005840"/>
            <a:ext cx="11064240" cy="0"/>
          </a:xfrm>
          <a:prstGeom prst="line">
            <a:avLst/>
          </a:prstGeom>
          <a:noFill/>
          <a:ln w="9525">
            <a:solidFill>
              <a:srgbClr val="4F8A99">
                <a:alpha val="40000"/>
              </a:srgbClr>
            </a:solidFill>
            <a:prstDash val="solid"/>
          </a:ln>
        </p:spPr>
      </p:sp>
      <p:sp>
        <p:nvSpPr>
          <p:cNvPr id="4" name="Text 2"/>
          <p:cNvSpPr txBox="1"/>
          <p:nvPr/>
        </p:nvSpPr>
        <p:spPr>
          <a:xfrm>
            <a:off x="548640" y="1143000"/>
            <a:ext cx="5120640" cy="1371600"/>
          </a:xfrm>
          <a:prstGeom prst="rect">
            <a:avLst/>
          </a:prstGeom>
          <a:noFill/>
          <a:ln/>
        </p:spPr>
        <p:txBody>
          <a:bodyPr wrap="square" lIns="0" tIns="0" rIns="0" bIns="0" rtlCol="0" anchor="t"/>
          <a:lstStyle/>
          <a:p>
            <a:pPr indent="0" marL="0">
              <a:lnSpc>
                <a:spcPct val="120000"/>
              </a:lnSpc>
              <a:buNone/>
            </a:pPr>
            <a:r>
              <a:rPr lang="en-US" sz="1350" dirty="0">
                <a:solidFill>
                  <a:srgbClr val="5C7378"/>
                </a:solidFill>
                <a:latin typeface="Calibri" pitchFamily="34" charset="0"/>
                <a:ea typeface="Calibri" pitchFamily="34" charset="-122"/>
                <a:cs typeface="Calibri" pitchFamily="34" charset="-120"/>
              </a:rPr>
              <a:t>Once the Random Forest is trained, we can ask it which features it actually relied on. It scores each one by how much it reduced impurity (Gini) across all the trees - a higher score means that feature pulled more weight in the prediction.</a:t>
            </a:r>
            <a:endParaRPr lang="en-US" sz="1350" dirty="0"/>
          </a:p>
        </p:txBody>
      </p:sp>
      <p:sp>
        <p:nvSpPr>
          <p:cNvPr id="5" name="Shape 3"/>
          <p:cNvSpPr/>
          <p:nvPr/>
        </p:nvSpPr>
        <p:spPr>
          <a:xfrm>
            <a:off x="548640" y="2697480"/>
            <a:ext cx="658368" cy="658368"/>
          </a:xfrm>
          <a:prstGeom prst="ellipse">
            <a:avLst/>
          </a:prstGeom>
          <a:solidFill>
            <a:srgbClr val="E8873A"/>
          </a:solidFill>
          <a:ln/>
        </p:spPr>
      </p:sp>
      <p:pic>
        <p:nvPicPr>
          <p:cNvPr id="6" name="Image 0" descr="/home/claude/icons/bullseye_w.png">    </p:cNvPr>
          <p:cNvPicPr>
            <a:picLocks noChangeAspect="1"/>
          </p:cNvPicPr>
          <p:nvPr/>
        </p:nvPicPr>
        <p:blipFill>
          <a:blip r:embed="rId1"/>
          <a:stretch>
            <a:fillRect/>
          </a:stretch>
        </p:blipFill>
        <p:spPr>
          <a:xfrm>
            <a:off x="719816" y="2868656"/>
            <a:ext cx="316017" cy="316017"/>
          </a:xfrm>
          <a:prstGeom prst="rect">
            <a:avLst/>
          </a:prstGeom>
        </p:spPr>
      </p:pic>
      <p:sp>
        <p:nvSpPr>
          <p:cNvPr id="7" name="Text 4"/>
          <p:cNvSpPr txBox="1"/>
          <p:nvPr/>
        </p:nvSpPr>
        <p:spPr>
          <a:xfrm>
            <a:off x="1371600" y="2743200"/>
            <a:ext cx="4297680" cy="914400"/>
          </a:xfrm>
          <a:prstGeom prst="rect">
            <a:avLst/>
          </a:prstGeom>
          <a:noFill/>
          <a:ln/>
        </p:spPr>
        <p:txBody>
          <a:bodyPr wrap="square" lIns="0" tIns="0" rIns="0" bIns="0" rtlCol="0" anchor="t"/>
          <a:lstStyle/>
          <a:p>
            <a:pPr indent="0" marL="0">
              <a:lnSpc>
                <a:spcPct val="115000"/>
              </a:lnSpc>
              <a:buNone/>
            </a:pPr>
            <a:r>
              <a:rPr lang="en-US" sz="1250" i="1" dirty="0">
                <a:solidFill>
                  <a:srgbClr val="20343A"/>
                </a:solidFill>
                <a:latin typeface="Calibri" pitchFamily="34" charset="0"/>
                <a:ea typeface="Calibri" pitchFamily="34" charset="-122"/>
                <a:cs typeface="Calibri" pitchFamily="34" charset="-120"/>
              </a:rPr>
              <a:t>This is called Mean Decrease in Impurity (MDI) - it's the go-to way of scoring feature importance with Random Forest.</a:t>
            </a:r>
            <a:endParaRPr lang="en-US" sz="1250" dirty="0"/>
          </a:p>
        </p:txBody>
      </p:sp>
      <p:sp>
        <p:nvSpPr>
          <p:cNvPr id="8" name="Shape 5"/>
          <p:cNvSpPr/>
          <p:nvPr/>
        </p:nvSpPr>
        <p:spPr>
          <a:xfrm>
            <a:off x="548640" y="3703320"/>
            <a:ext cx="5120640" cy="2423160"/>
          </a:xfrm>
          <a:prstGeom prst="roundRect">
            <a:avLst>
              <a:gd name="adj" fmla="val 3774"/>
            </a:avLst>
          </a:prstGeom>
          <a:solidFill>
            <a:srgbClr val="1B4B5A"/>
          </a:solidFill>
          <a:ln/>
        </p:spPr>
      </p:sp>
      <p:sp>
        <p:nvSpPr>
          <p:cNvPr id="9" name="Text 6"/>
          <p:cNvSpPr txBox="1"/>
          <p:nvPr/>
        </p:nvSpPr>
        <p:spPr>
          <a:xfrm>
            <a:off x="822960" y="3886200"/>
            <a:ext cx="4572000" cy="274320"/>
          </a:xfrm>
          <a:prstGeom prst="rect">
            <a:avLst/>
          </a:prstGeom>
          <a:noFill/>
          <a:ln/>
        </p:spPr>
        <p:txBody>
          <a:bodyPr wrap="square" lIns="0" tIns="0" rIns="0" bIns="0" rtlCol="0" anchor="ctr"/>
          <a:lstStyle/>
          <a:p>
            <a:pPr indent="0" marL="0">
              <a:buNone/>
            </a:pPr>
            <a:r>
              <a:rPr lang="en-US" sz="1200" b="1" dirty="0">
                <a:solidFill>
                  <a:srgbClr val="E8873A"/>
                </a:solidFill>
                <a:latin typeface="Calibri" pitchFamily="34" charset="0"/>
                <a:ea typeface="Calibri" pitchFamily="34" charset="-122"/>
                <a:cs typeface="Calibri" pitchFamily="34" charset="-120"/>
              </a:rPr>
              <a:t>Note</a:t>
            </a:r>
            <a:endParaRPr lang="en-US" sz="1200" dirty="0"/>
          </a:p>
        </p:txBody>
      </p:sp>
      <p:sp>
        <p:nvSpPr>
          <p:cNvPr id="10" name="Text 7"/>
          <p:cNvSpPr txBox="1"/>
          <p:nvPr/>
        </p:nvSpPr>
        <p:spPr>
          <a:xfrm>
            <a:off x="822960" y="4160520"/>
            <a:ext cx="4572000" cy="1828800"/>
          </a:xfrm>
          <a:prstGeom prst="rect">
            <a:avLst/>
          </a:prstGeom>
          <a:noFill/>
          <a:ln/>
        </p:spPr>
        <p:txBody>
          <a:bodyPr wrap="square" lIns="0" tIns="0" rIns="0" bIns="0" rtlCol="0" anchor="t"/>
          <a:lstStyle/>
          <a:p>
            <a:pPr indent="0" marL="0">
              <a:lnSpc>
                <a:spcPct val="125000"/>
              </a:lnSpc>
              <a:buNone/>
            </a:pPr>
            <a:r>
              <a:rPr lang="en-US" sz="1300" dirty="0">
                <a:solidFill>
                  <a:srgbClr val="DCE9EC"/>
                </a:solidFill>
                <a:latin typeface="Calibri" pitchFamily="34" charset="0"/>
                <a:ea typeface="Calibri" pitchFamily="34" charset="-122"/>
                <a:cs typeface="Calibri" pitchFamily="34" charset="-120"/>
              </a:rPr>
              <a:t>The numbers in this chart are just placeholders to show the kind of pattern we expect. Swap them out for the actual importance scores once you run the model.</a:t>
            </a:r>
            <a:endParaRPr lang="en-US" sz="1300" dirty="0"/>
          </a:p>
        </p:txBody>
      </p:sp>
      <p:graphicFrame>
        <p:nvGraphicFramePr>
          <p:cNvPr id="11" name="Chart 0" descr=""/>
          <p:cNvGraphicFramePr/>
          <p:nvPr/>
        </p:nvGraphicFramePr>
        <p:xfrm>
          <a:off x="5943600" y="1188720"/>
          <a:ext cx="5669280" cy="502920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13" name="Shape 9"/>
          <p:cNvSpPr/>
          <p:nvPr/>
        </p:nvSpPr>
        <p:spPr>
          <a:xfrm>
            <a:off x="11475720" y="6446520"/>
            <a:ext cx="411480" cy="320040"/>
          </a:xfrm>
          <a:prstGeom prst="rect">
            <a:avLst/>
          </a:prstGeom>
          <a:solidFill>
            <a:srgbClr val="1B4B5A">
              <a:alpha val="8000"/>
            </a:srgbClr>
          </a:solidFill>
          <a:ln/>
        </p:spPr>
      </p:sp>
      <p:sp>
        <p:nvSpPr>
          <p:cNvPr id="14" name="Text 10"/>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2800" b="1" dirty="0">
                <a:solidFill>
                  <a:srgbClr val="1B4B5A"/>
                </a:solidFill>
                <a:latin typeface="Cambria" pitchFamily="34" charset="0"/>
                <a:ea typeface="Cambria" pitchFamily="34" charset="-122"/>
                <a:cs typeface="Cambria" pitchFamily="34" charset="-120"/>
              </a:rPr>
              <a:t>Results &amp; Model Evaluation</a:t>
            </a:r>
            <a:endParaRPr lang="en-US" sz="2800" dirty="0"/>
          </a:p>
        </p:txBody>
      </p:sp>
      <p:sp>
        <p:nvSpPr>
          <p:cNvPr id="3" name="Shape 1"/>
          <p:cNvSpPr/>
          <p:nvPr/>
        </p:nvSpPr>
        <p:spPr>
          <a:xfrm>
            <a:off x="548640" y="1005840"/>
            <a:ext cx="11064240" cy="0"/>
          </a:xfrm>
          <a:prstGeom prst="line">
            <a:avLst/>
          </a:prstGeom>
          <a:noFill/>
          <a:ln w="9525">
            <a:solidFill>
              <a:srgbClr val="4F8A99">
                <a:alpha val="40000"/>
              </a:srgbClr>
            </a:solidFill>
            <a:prstDash val="solid"/>
          </a:ln>
        </p:spPr>
      </p:sp>
      <p:sp>
        <p:nvSpPr>
          <p:cNvPr id="4" name="Shape 2"/>
          <p:cNvSpPr/>
          <p:nvPr/>
        </p:nvSpPr>
        <p:spPr>
          <a:xfrm>
            <a:off x="548640" y="1371600"/>
            <a:ext cx="2560320" cy="1463040"/>
          </a:xfrm>
          <a:prstGeom prst="roundRect">
            <a:avLst>
              <a:gd name="adj" fmla="val 6250"/>
            </a:avLst>
          </a:prstGeom>
          <a:solidFill>
            <a:srgbClr val="FFFFFF"/>
          </a:solidFill>
          <a:ln w="9525">
            <a:solidFill>
              <a:srgbClr val="4F8A99">
                <a:alpha val="25000"/>
              </a:srgbClr>
            </a:solidFill>
            <a:prstDash val="solid"/>
          </a:ln>
        </p:spPr>
      </p:sp>
      <p:sp>
        <p:nvSpPr>
          <p:cNvPr id="5" name="Text 3"/>
          <p:cNvSpPr txBox="1"/>
          <p:nvPr/>
        </p:nvSpPr>
        <p:spPr>
          <a:xfrm>
            <a:off x="548640" y="1481328"/>
            <a:ext cx="2560320" cy="685800"/>
          </a:xfrm>
          <a:prstGeom prst="rect">
            <a:avLst/>
          </a:prstGeom>
          <a:noFill/>
          <a:ln/>
        </p:spPr>
        <p:txBody>
          <a:bodyPr wrap="square" lIns="0" tIns="0" rIns="0" bIns="0" rtlCol="0" anchor="ctr"/>
          <a:lstStyle/>
          <a:p>
            <a:pPr algn="ctr" indent="0" marL="0">
              <a:buNone/>
            </a:pPr>
            <a:r>
              <a:rPr lang="en-US" sz="3000" b="1" dirty="0">
                <a:solidFill>
                  <a:srgbClr val="E8873A"/>
                </a:solidFill>
                <a:latin typeface="Cambria" pitchFamily="34" charset="0"/>
                <a:ea typeface="Cambria" pitchFamily="34" charset="-122"/>
                <a:cs typeface="Cambria" pitchFamily="34" charset="-120"/>
              </a:rPr>
              <a:t>[0.xx]</a:t>
            </a:r>
            <a:endParaRPr lang="en-US" sz="3000" dirty="0"/>
          </a:p>
        </p:txBody>
      </p:sp>
      <p:sp>
        <p:nvSpPr>
          <p:cNvPr id="6" name="Text 4"/>
          <p:cNvSpPr txBox="1"/>
          <p:nvPr/>
        </p:nvSpPr>
        <p:spPr>
          <a:xfrm>
            <a:off x="548640" y="2194560"/>
            <a:ext cx="2560320" cy="457200"/>
          </a:xfrm>
          <a:prstGeom prst="rect">
            <a:avLst/>
          </a:prstGeom>
          <a:noFill/>
          <a:ln/>
        </p:spPr>
        <p:txBody>
          <a:bodyPr wrap="square" lIns="0" tIns="0" rIns="0" bIns="0" rtlCol="0" anchor="ctr"/>
          <a:lstStyle/>
          <a:p>
            <a:pPr algn="ctr" indent="0" marL="0">
              <a:buNone/>
            </a:pPr>
            <a:r>
              <a:rPr lang="en-US" sz="1300" b="1" dirty="0">
                <a:solidFill>
                  <a:srgbClr val="5C7378"/>
                </a:solidFill>
                <a:latin typeface="Calibri" pitchFamily="34" charset="0"/>
                <a:ea typeface="Calibri" pitchFamily="34" charset="-122"/>
                <a:cs typeface="Calibri" pitchFamily="34" charset="-120"/>
              </a:rPr>
              <a:t>R² Score</a:t>
            </a:r>
            <a:endParaRPr lang="en-US" sz="1300" dirty="0"/>
          </a:p>
        </p:txBody>
      </p:sp>
      <p:sp>
        <p:nvSpPr>
          <p:cNvPr id="7" name="Shape 5"/>
          <p:cNvSpPr/>
          <p:nvPr/>
        </p:nvSpPr>
        <p:spPr>
          <a:xfrm>
            <a:off x="3383280" y="1371600"/>
            <a:ext cx="2560320" cy="1463040"/>
          </a:xfrm>
          <a:prstGeom prst="roundRect">
            <a:avLst>
              <a:gd name="adj" fmla="val 6250"/>
            </a:avLst>
          </a:prstGeom>
          <a:solidFill>
            <a:srgbClr val="FFFFFF"/>
          </a:solidFill>
          <a:ln w="9525">
            <a:solidFill>
              <a:srgbClr val="4F8A99">
                <a:alpha val="25000"/>
              </a:srgbClr>
            </a:solidFill>
            <a:prstDash val="solid"/>
          </a:ln>
        </p:spPr>
      </p:sp>
      <p:sp>
        <p:nvSpPr>
          <p:cNvPr id="8" name="Text 6"/>
          <p:cNvSpPr txBox="1"/>
          <p:nvPr/>
        </p:nvSpPr>
        <p:spPr>
          <a:xfrm>
            <a:off x="3383280" y="1481328"/>
            <a:ext cx="2560320" cy="685800"/>
          </a:xfrm>
          <a:prstGeom prst="rect">
            <a:avLst/>
          </a:prstGeom>
          <a:noFill/>
          <a:ln/>
        </p:spPr>
        <p:txBody>
          <a:bodyPr wrap="square" lIns="0" tIns="0" rIns="0" bIns="0" rtlCol="0" anchor="ctr"/>
          <a:lstStyle/>
          <a:p>
            <a:pPr algn="ctr" indent="0" marL="0">
              <a:buNone/>
            </a:pPr>
            <a:r>
              <a:rPr lang="en-US" sz="3000" b="1" dirty="0">
                <a:solidFill>
                  <a:srgbClr val="E8873A"/>
                </a:solidFill>
                <a:latin typeface="Cambria" pitchFamily="34" charset="0"/>
                <a:ea typeface="Cambria" pitchFamily="34" charset="-122"/>
                <a:cs typeface="Cambria" pitchFamily="34" charset="-120"/>
              </a:rPr>
              <a:t>[x.xx]</a:t>
            </a:r>
            <a:endParaRPr lang="en-US" sz="3000" dirty="0"/>
          </a:p>
        </p:txBody>
      </p:sp>
      <p:sp>
        <p:nvSpPr>
          <p:cNvPr id="9" name="Text 7"/>
          <p:cNvSpPr txBox="1"/>
          <p:nvPr/>
        </p:nvSpPr>
        <p:spPr>
          <a:xfrm>
            <a:off x="3383280" y="2194560"/>
            <a:ext cx="2560320" cy="457200"/>
          </a:xfrm>
          <a:prstGeom prst="rect">
            <a:avLst/>
          </a:prstGeom>
          <a:noFill/>
          <a:ln/>
        </p:spPr>
        <p:txBody>
          <a:bodyPr wrap="square" lIns="0" tIns="0" rIns="0" bIns="0" rtlCol="0" anchor="ctr"/>
          <a:lstStyle/>
          <a:p>
            <a:pPr algn="ctr" indent="0" marL="0">
              <a:buNone/>
            </a:pPr>
            <a:r>
              <a:rPr lang="en-US" sz="1300" b="1" dirty="0">
                <a:solidFill>
                  <a:srgbClr val="5C7378"/>
                </a:solidFill>
                <a:latin typeface="Calibri" pitchFamily="34" charset="0"/>
                <a:ea typeface="Calibri" pitchFamily="34" charset="-122"/>
                <a:cs typeface="Calibri" pitchFamily="34" charset="-120"/>
              </a:rPr>
              <a:t>RMSE</a:t>
            </a:r>
            <a:endParaRPr lang="en-US" sz="1300" dirty="0"/>
          </a:p>
        </p:txBody>
      </p:sp>
      <p:sp>
        <p:nvSpPr>
          <p:cNvPr id="10" name="Shape 8"/>
          <p:cNvSpPr/>
          <p:nvPr/>
        </p:nvSpPr>
        <p:spPr>
          <a:xfrm>
            <a:off x="6217920" y="1371600"/>
            <a:ext cx="2560320" cy="1463040"/>
          </a:xfrm>
          <a:prstGeom prst="roundRect">
            <a:avLst>
              <a:gd name="adj" fmla="val 6250"/>
            </a:avLst>
          </a:prstGeom>
          <a:solidFill>
            <a:srgbClr val="FFFFFF"/>
          </a:solidFill>
          <a:ln w="9525">
            <a:solidFill>
              <a:srgbClr val="4F8A99">
                <a:alpha val="25000"/>
              </a:srgbClr>
            </a:solidFill>
            <a:prstDash val="solid"/>
          </a:ln>
        </p:spPr>
      </p:sp>
      <p:sp>
        <p:nvSpPr>
          <p:cNvPr id="11" name="Text 9"/>
          <p:cNvSpPr txBox="1"/>
          <p:nvPr/>
        </p:nvSpPr>
        <p:spPr>
          <a:xfrm>
            <a:off x="6217920" y="1481328"/>
            <a:ext cx="2560320" cy="685800"/>
          </a:xfrm>
          <a:prstGeom prst="rect">
            <a:avLst/>
          </a:prstGeom>
          <a:noFill/>
          <a:ln/>
        </p:spPr>
        <p:txBody>
          <a:bodyPr wrap="square" lIns="0" tIns="0" rIns="0" bIns="0" rtlCol="0" anchor="ctr"/>
          <a:lstStyle/>
          <a:p>
            <a:pPr algn="ctr" indent="0" marL="0">
              <a:buNone/>
            </a:pPr>
            <a:r>
              <a:rPr lang="en-US" sz="3000" b="1" dirty="0">
                <a:solidFill>
                  <a:srgbClr val="E8873A"/>
                </a:solidFill>
                <a:latin typeface="Cambria" pitchFamily="34" charset="0"/>
                <a:ea typeface="Cambria" pitchFamily="34" charset="-122"/>
                <a:cs typeface="Cambria" pitchFamily="34" charset="-120"/>
              </a:rPr>
              <a:t>[x.xx]</a:t>
            </a:r>
            <a:endParaRPr lang="en-US" sz="3000" dirty="0"/>
          </a:p>
        </p:txBody>
      </p:sp>
      <p:sp>
        <p:nvSpPr>
          <p:cNvPr id="12" name="Text 10"/>
          <p:cNvSpPr txBox="1"/>
          <p:nvPr/>
        </p:nvSpPr>
        <p:spPr>
          <a:xfrm>
            <a:off x="6217920" y="2194560"/>
            <a:ext cx="2560320" cy="457200"/>
          </a:xfrm>
          <a:prstGeom prst="rect">
            <a:avLst/>
          </a:prstGeom>
          <a:noFill/>
          <a:ln/>
        </p:spPr>
        <p:txBody>
          <a:bodyPr wrap="square" lIns="0" tIns="0" rIns="0" bIns="0" rtlCol="0" anchor="ctr"/>
          <a:lstStyle/>
          <a:p>
            <a:pPr algn="ctr" indent="0" marL="0">
              <a:buNone/>
            </a:pPr>
            <a:r>
              <a:rPr lang="en-US" sz="1300" b="1" dirty="0">
                <a:solidFill>
                  <a:srgbClr val="5C7378"/>
                </a:solidFill>
                <a:latin typeface="Calibri" pitchFamily="34" charset="0"/>
                <a:ea typeface="Calibri" pitchFamily="34" charset="-122"/>
                <a:cs typeface="Calibri" pitchFamily="34" charset="-120"/>
              </a:rPr>
              <a:t>MAE</a:t>
            </a:r>
            <a:endParaRPr lang="en-US" sz="1300" dirty="0"/>
          </a:p>
        </p:txBody>
      </p:sp>
      <p:sp>
        <p:nvSpPr>
          <p:cNvPr id="13" name="Shape 11"/>
          <p:cNvSpPr/>
          <p:nvPr/>
        </p:nvSpPr>
        <p:spPr>
          <a:xfrm>
            <a:off x="9052560" y="1371600"/>
            <a:ext cx="2560320" cy="1463040"/>
          </a:xfrm>
          <a:prstGeom prst="roundRect">
            <a:avLst>
              <a:gd name="adj" fmla="val 6250"/>
            </a:avLst>
          </a:prstGeom>
          <a:solidFill>
            <a:srgbClr val="FFFFFF"/>
          </a:solidFill>
          <a:ln w="9525">
            <a:solidFill>
              <a:srgbClr val="4F8A99">
                <a:alpha val="25000"/>
              </a:srgbClr>
            </a:solidFill>
            <a:prstDash val="solid"/>
          </a:ln>
        </p:spPr>
      </p:sp>
      <p:sp>
        <p:nvSpPr>
          <p:cNvPr id="14" name="Text 12"/>
          <p:cNvSpPr txBox="1"/>
          <p:nvPr/>
        </p:nvSpPr>
        <p:spPr>
          <a:xfrm>
            <a:off x="9052560" y="1481328"/>
            <a:ext cx="2560320" cy="685800"/>
          </a:xfrm>
          <a:prstGeom prst="rect">
            <a:avLst/>
          </a:prstGeom>
          <a:noFill/>
          <a:ln/>
        </p:spPr>
        <p:txBody>
          <a:bodyPr wrap="square" lIns="0" tIns="0" rIns="0" bIns="0" rtlCol="0" anchor="ctr"/>
          <a:lstStyle/>
          <a:p>
            <a:pPr algn="ctr" indent="0" marL="0">
              <a:buNone/>
            </a:pPr>
            <a:r>
              <a:rPr lang="en-US" sz="3000" b="1" dirty="0">
                <a:solidFill>
                  <a:srgbClr val="E8873A"/>
                </a:solidFill>
                <a:latin typeface="Cambria" pitchFamily="34" charset="0"/>
                <a:ea typeface="Cambria" pitchFamily="34" charset="-122"/>
                <a:cs typeface="Cambria" pitchFamily="34" charset="-120"/>
              </a:rPr>
              <a:t>[xx%]</a:t>
            </a:r>
            <a:endParaRPr lang="en-US" sz="3000" dirty="0"/>
          </a:p>
        </p:txBody>
      </p:sp>
      <p:sp>
        <p:nvSpPr>
          <p:cNvPr id="15" name="Text 13"/>
          <p:cNvSpPr txBox="1"/>
          <p:nvPr/>
        </p:nvSpPr>
        <p:spPr>
          <a:xfrm>
            <a:off x="9052560" y="2194560"/>
            <a:ext cx="2560320" cy="457200"/>
          </a:xfrm>
          <a:prstGeom prst="rect">
            <a:avLst/>
          </a:prstGeom>
          <a:noFill/>
          <a:ln/>
        </p:spPr>
        <p:txBody>
          <a:bodyPr wrap="square" lIns="0" tIns="0" rIns="0" bIns="0" rtlCol="0" anchor="ctr"/>
          <a:lstStyle/>
          <a:p>
            <a:pPr algn="ctr" indent="0" marL="0">
              <a:buNone/>
            </a:pPr>
            <a:r>
              <a:rPr lang="en-US" sz="1300" b="1" dirty="0">
                <a:solidFill>
                  <a:srgbClr val="5C7378"/>
                </a:solidFill>
                <a:latin typeface="Calibri" pitchFamily="34" charset="0"/>
                <a:ea typeface="Calibri" pitchFamily="34" charset="-122"/>
                <a:cs typeface="Calibri" pitchFamily="34" charset="-120"/>
              </a:rPr>
              <a:t>Accuracy</a:t>
            </a:r>
            <a:endParaRPr lang="en-US" sz="1300" dirty="0"/>
          </a:p>
        </p:txBody>
      </p:sp>
      <p:sp>
        <p:nvSpPr>
          <p:cNvPr id="16" name="Text 14"/>
          <p:cNvSpPr txBox="1"/>
          <p:nvPr/>
        </p:nvSpPr>
        <p:spPr>
          <a:xfrm>
            <a:off x="548640" y="2907792"/>
            <a:ext cx="11064240" cy="274320"/>
          </a:xfrm>
          <a:prstGeom prst="rect">
            <a:avLst/>
          </a:prstGeom>
          <a:noFill/>
          <a:ln/>
        </p:spPr>
        <p:txBody>
          <a:bodyPr wrap="square" lIns="0" tIns="0" rIns="0" bIns="0" rtlCol="0" anchor="ctr"/>
          <a:lstStyle/>
          <a:p>
            <a:pPr algn="ctr" indent="0" marL="0">
              <a:buNone/>
            </a:pPr>
            <a:r>
              <a:rPr lang="en-US" sz="1100" i="1" dirty="0">
                <a:solidFill>
                  <a:srgbClr val="5C7378"/>
                </a:solidFill>
                <a:latin typeface="Calibri" pitchFamily="34" charset="0"/>
                <a:ea typeface="Calibri" pitchFamily="34" charset="-122"/>
                <a:cs typeface="Calibri" pitchFamily="34" charset="-120"/>
              </a:rPr>
              <a:t>Note: insert your model's actual evaluation metrics above.</a:t>
            </a:r>
            <a:endParaRPr lang="en-US" sz="1100" dirty="0"/>
          </a:p>
        </p:txBody>
      </p:sp>
      <p:sp>
        <p:nvSpPr>
          <p:cNvPr id="17" name="Shape 15"/>
          <p:cNvSpPr/>
          <p:nvPr/>
        </p:nvSpPr>
        <p:spPr>
          <a:xfrm>
            <a:off x="548640" y="3429000"/>
            <a:ext cx="11064240" cy="2697480"/>
          </a:xfrm>
          <a:prstGeom prst="roundRect">
            <a:avLst>
              <a:gd name="adj" fmla="val 3390"/>
            </a:avLst>
          </a:prstGeom>
          <a:solidFill>
            <a:srgbClr val="1B4B5A"/>
          </a:solidFill>
          <a:ln/>
        </p:spPr>
      </p:sp>
      <p:sp>
        <p:nvSpPr>
          <p:cNvPr id="18" name="Shape 16"/>
          <p:cNvSpPr/>
          <p:nvPr/>
        </p:nvSpPr>
        <p:spPr>
          <a:xfrm>
            <a:off x="868680" y="3703320"/>
            <a:ext cx="640080" cy="640080"/>
          </a:xfrm>
          <a:prstGeom prst="ellipse">
            <a:avLst/>
          </a:prstGeom>
          <a:solidFill>
            <a:srgbClr val="E8873A"/>
          </a:solidFill>
          <a:ln/>
        </p:spPr>
      </p:sp>
      <p:pic>
        <p:nvPicPr>
          <p:cNvPr id="19" name="Image 0" descr="/home/claude/icons/chart_w.png">    </p:cNvPr>
          <p:cNvPicPr>
            <a:picLocks noChangeAspect="1"/>
          </p:cNvPicPr>
          <p:nvPr/>
        </p:nvPicPr>
        <p:blipFill>
          <a:blip r:embed="rId1"/>
          <a:stretch>
            <a:fillRect/>
          </a:stretch>
        </p:blipFill>
        <p:spPr>
          <a:xfrm>
            <a:off x="1035101" y="3869741"/>
            <a:ext cx="307238" cy="307238"/>
          </a:xfrm>
          <a:prstGeom prst="rect">
            <a:avLst/>
          </a:prstGeom>
        </p:spPr>
      </p:pic>
      <p:sp>
        <p:nvSpPr>
          <p:cNvPr id="20" name="Text 17"/>
          <p:cNvSpPr txBox="1"/>
          <p:nvPr/>
        </p:nvSpPr>
        <p:spPr>
          <a:xfrm>
            <a:off x="1691640" y="3749040"/>
            <a:ext cx="73152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Key Takeaways</a:t>
            </a:r>
            <a:endParaRPr lang="en-US" sz="1800" dirty="0"/>
          </a:p>
        </p:txBody>
      </p:sp>
      <p:sp>
        <p:nvSpPr>
          <p:cNvPr id="21" name="Text 18"/>
          <p:cNvSpPr txBox="1"/>
          <p:nvPr/>
        </p:nvSpPr>
        <p:spPr>
          <a:xfrm>
            <a:off x="868680" y="4434840"/>
            <a:ext cx="10424160" cy="16002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DCE9EC"/>
                </a:solidFill>
                <a:latin typeface="Calibri" pitchFamily="34" charset="0"/>
                <a:ea typeface="Calibri" pitchFamily="34" charset="-122"/>
                <a:cs typeface="Calibri" pitchFamily="34" charset="-120"/>
              </a:rPr>
              <a:t>PM2.5 and PM10 usually end up mattering more than the weather-related features - which lines up with what most air quality studies report.</a:t>
            </a:r>
            <a:endParaRPr lang="en-US" sz="1350" dirty="0"/>
          </a:p>
          <a:p>
            <a:pPr marL="342900" indent="-342900">
              <a:lnSpc>
                <a:spcPct val="120000"/>
              </a:lnSpc>
              <a:spcAft>
                <a:spcPts val="1000"/>
              </a:spcAft>
              <a:buSzPct val="100000"/>
              <a:buChar char="•"/>
            </a:pPr>
            <a:r>
              <a:rPr lang="en-US" sz="1350" dirty="0">
                <a:solidFill>
                  <a:srgbClr val="DCE9EC"/>
                </a:solidFill>
                <a:latin typeface="Calibri" pitchFamily="34" charset="0"/>
                <a:ea typeface="Calibri" pitchFamily="34" charset="-122"/>
                <a:cs typeface="Calibri" pitchFamily="34" charset="-120"/>
              </a:rPr>
              <a:t>We're not just getting a prediction out of this - we're getting a reason for it, which is what makes Random Forest useful here.</a:t>
            </a:r>
            <a:endParaRPr lang="en-US" sz="1350" dirty="0"/>
          </a:p>
          <a:p>
            <a:pPr marL="342900" indent="-342900">
              <a:lnSpc>
                <a:spcPct val="120000"/>
              </a:lnSpc>
              <a:spcAft>
                <a:spcPts val="1000"/>
              </a:spcAft>
              <a:buSzPct val="100000"/>
              <a:buChar char="•"/>
            </a:pPr>
            <a:r>
              <a:rPr lang="en-US" sz="1350" dirty="0">
                <a:solidFill>
                  <a:srgbClr val="DCE9EC"/>
                </a:solidFill>
                <a:latin typeface="Calibri" pitchFamily="34" charset="0"/>
                <a:ea typeface="Calibri" pitchFamily="34" charset="-122"/>
                <a:cs typeface="Calibri" pitchFamily="34" charset="-120"/>
              </a:rPr>
              <a:t>This kind of ranking is also handy practically: it tells you which sensors are worth prioritising if you're setting up a monitoring station.</a:t>
            </a:r>
            <a:endParaRPr lang="en-US" sz="1350" dirty="0"/>
          </a:p>
        </p:txBody>
      </p:sp>
      <p:sp>
        <p:nvSpPr>
          <p:cNvPr id="22" name="Text 19"/>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5C7378"/>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23" name="Shape 20"/>
          <p:cNvSpPr/>
          <p:nvPr/>
        </p:nvSpPr>
        <p:spPr>
          <a:xfrm>
            <a:off x="11475720" y="6446520"/>
            <a:ext cx="411480" cy="320040"/>
          </a:xfrm>
          <a:prstGeom prst="rect">
            <a:avLst/>
          </a:prstGeom>
          <a:solidFill>
            <a:srgbClr val="1B4B5A">
              <a:alpha val="8000"/>
            </a:srgbClr>
          </a:solidFill>
          <a:ln/>
        </p:spPr>
      </p:sp>
      <p:sp>
        <p:nvSpPr>
          <p:cNvPr id="24" name="Text 21"/>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1B4B5A"/>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333D"/>
        </a:solidFill>
      </p:bgPr>
    </p:bg>
    <p:spTree>
      <p:nvGrpSpPr>
        <p:cNvPr id="1" name=""/>
        <p:cNvGrpSpPr/>
        <p:nvPr/>
      </p:nvGrpSpPr>
      <p:grpSpPr>
        <a:xfrm>
          <a:off x="0" y="0"/>
          <a:ext cx="0" cy="0"/>
          <a:chOff x="0" y="0"/>
          <a:chExt cx="0" cy="0"/>
        </a:xfrm>
      </p:grpSpPr>
      <p:sp>
        <p:nvSpPr>
          <p:cNvPr id="2" name="Shape 0"/>
          <p:cNvSpPr/>
          <p:nvPr/>
        </p:nvSpPr>
        <p:spPr>
          <a:xfrm>
            <a:off x="9875520" y="4389120"/>
            <a:ext cx="4114800" cy="4114800"/>
          </a:xfrm>
          <a:prstGeom prst="ellipse">
            <a:avLst/>
          </a:prstGeom>
          <a:solidFill>
            <a:srgbClr val="4F8A99">
              <a:alpha val="15000"/>
            </a:srgbClr>
          </a:solidFill>
          <a:ln/>
        </p:spPr>
      </p:sp>
      <p:sp>
        <p:nvSpPr>
          <p:cNvPr id="3" name="Text 1"/>
          <p:cNvSpPr txBox="1"/>
          <p:nvPr/>
        </p:nvSpPr>
        <p:spPr>
          <a:xfrm>
            <a:off x="548640" y="50292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4" name="Shape 2"/>
          <p:cNvSpPr/>
          <p:nvPr/>
        </p:nvSpPr>
        <p:spPr>
          <a:xfrm>
            <a:off x="548640" y="1188720"/>
            <a:ext cx="3657600" cy="0"/>
          </a:xfrm>
          <a:prstGeom prst="line">
            <a:avLst/>
          </a:prstGeom>
          <a:noFill/>
          <a:ln w="25400">
            <a:solidFill>
              <a:srgbClr val="E8873A"/>
            </a:solidFill>
            <a:prstDash val="solid"/>
          </a:ln>
        </p:spPr>
      </p:sp>
      <p:sp>
        <p:nvSpPr>
          <p:cNvPr id="5" name="Shape 3"/>
          <p:cNvSpPr/>
          <p:nvPr/>
        </p:nvSpPr>
        <p:spPr>
          <a:xfrm>
            <a:off x="548640" y="1600200"/>
            <a:ext cx="594360" cy="594360"/>
          </a:xfrm>
          <a:prstGeom prst="ellipse">
            <a:avLst/>
          </a:prstGeom>
          <a:solidFill>
            <a:srgbClr val="4F8A99"/>
          </a:solidFill>
          <a:ln/>
        </p:spPr>
      </p:sp>
      <p:pic>
        <p:nvPicPr>
          <p:cNvPr id="6" name="Image 0" descr="/home/claude/icons/check_w.png">    </p:cNvPr>
          <p:cNvPicPr>
            <a:picLocks noChangeAspect="1"/>
          </p:cNvPicPr>
          <p:nvPr/>
        </p:nvPicPr>
        <p:blipFill>
          <a:blip r:embed="rId1"/>
          <a:stretch>
            <a:fillRect/>
          </a:stretch>
        </p:blipFill>
        <p:spPr>
          <a:xfrm>
            <a:off x="703174" y="1754734"/>
            <a:ext cx="285293" cy="285293"/>
          </a:xfrm>
          <a:prstGeom prst="rect">
            <a:avLst/>
          </a:prstGeom>
        </p:spPr>
      </p:pic>
      <p:sp>
        <p:nvSpPr>
          <p:cNvPr id="7" name="Text 4"/>
          <p:cNvSpPr txBox="1"/>
          <p:nvPr/>
        </p:nvSpPr>
        <p:spPr>
          <a:xfrm>
            <a:off x="1325880" y="1645920"/>
            <a:ext cx="457200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Conclusion</a:t>
            </a:r>
            <a:endParaRPr lang="en-US" sz="1700" dirty="0"/>
          </a:p>
        </p:txBody>
      </p:sp>
      <p:sp>
        <p:nvSpPr>
          <p:cNvPr id="8" name="Text 5"/>
          <p:cNvSpPr txBox="1"/>
          <p:nvPr/>
        </p:nvSpPr>
        <p:spPr>
          <a:xfrm>
            <a:off x="548640" y="2286000"/>
            <a:ext cx="5486400" cy="192024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Random Forest was able to predict air quality reasonably well using just pollutant and weather data.</a:t>
            </a:r>
            <a:endParaRPr lang="en-US" sz="1350" dirty="0"/>
          </a:p>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PM2.5 and PM10 stood out as the biggest contributors, which matched our expectations going in.</a:t>
            </a:r>
            <a:endParaRPr lang="en-US" sz="1350" dirty="0"/>
          </a:p>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Overall, the model is accurate enough and easy enough to explain that it could realistically be used for monitoring.</a:t>
            </a:r>
            <a:endParaRPr lang="en-US" sz="1350" dirty="0"/>
          </a:p>
        </p:txBody>
      </p:sp>
      <p:sp>
        <p:nvSpPr>
          <p:cNvPr id="9" name="Shape 6"/>
          <p:cNvSpPr/>
          <p:nvPr/>
        </p:nvSpPr>
        <p:spPr>
          <a:xfrm>
            <a:off x="6309360" y="1600200"/>
            <a:ext cx="594360" cy="594360"/>
          </a:xfrm>
          <a:prstGeom prst="ellipse">
            <a:avLst/>
          </a:prstGeom>
          <a:solidFill>
            <a:srgbClr val="E8873A"/>
          </a:solidFill>
          <a:ln/>
        </p:spPr>
      </p:sp>
      <p:pic>
        <p:nvPicPr>
          <p:cNvPr id="10" name="Image 1" descr="/home/claude/icons/seedling_w.png">    </p:cNvPr>
          <p:cNvPicPr>
            <a:picLocks noChangeAspect="1"/>
          </p:cNvPicPr>
          <p:nvPr/>
        </p:nvPicPr>
        <p:blipFill>
          <a:blip r:embed="rId2"/>
          <a:stretch>
            <a:fillRect/>
          </a:stretch>
        </p:blipFill>
        <p:spPr>
          <a:xfrm>
            <a:off x="6463894" y="1754734"/>
            <a:ext cx="285293" cy="285293"/>
          </a:xfrm>
          <a:prstGeom prst="rect">
            <a:avLst/>
          </a:prstGeom>
        </p:spPr>
      </p:pic>
      <p:sp>
        <p:nvSpPr>
          <p:cNvPr id="11" name="Text 7"/>
          <p:cNvSpPr txBox="1"/>
          <p:nvPr/>
        </p:nvSpPr>
        <p:spPr>
          <a:xfrm>
            <a:off x="7086600" y="1645920"/>
            <a:ext cx="457200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Future Scope</a:t>
            </a:r>
            <a:endParaRPr lang="en-US" sz="1700" dirty="0"/>
          </a:p>
        </p:txBody>
      </p:sp>
      <p:sp>
        <p:nvSpPr>
          <p:cNvPr id="12" name="Text 8"/>
          <p:cNvSpPr txBox="1"/>
          <p:nvPr/>
        </p:nvSpPr>
        <p:spPr>
          <a:xfrm>
            <a:off x="6309360" y="2286000"/>
            <a:ext cx="5486400" cy="192024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Test the model on more cities and a longer stretch of data than we had this time.</a:t>
            </a:r>
            <a:endParaRPr lang="en-US" sz="1350" dirty="0"/>
          </a:p>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See if XGBoost or LightGBM can push the accuracy any further.</a:t>
            </a:r>
            <a:endParaRPr lang="en-US" sz="1350" dirty="0"/>
          </a:p>
          <a:p>
            <a:pPr marL="342900" indent="-342900">
              <a:lnSpc>
                <a:spcPct val="120000"/>
              </a:lnSpc>
              <a:spcAft>
                <a:spcPts val="1000"/>
              </a:spcAft>
              <a:buSzPct val="100000"/>
              <a:buChar char="•"/>
            </a:pPr>
            <a:r>
              <a:rPr lang="en-US" sz="1350" dirty="0">
                <a:solidFill>
                  <a:srgbClr val="CADCE0"/>
                </a:solidFill>
                <a:latin typeface="Calibri" pitchFamily="34" charset="0"/>
                <a:ea typeface="Calibri" pitchFamily="34" charset="-122"/>
                <a:cs typeface="Calibri" pitchFamily="34" charset="-120"/>
              </a:rPr>
              <a:t>Eventually turn this into a live dashboard that can flag pollution spikes early.</a:t>
            </a:r>
            <a:endParaRPr lang="en-US" sz="1350" dirty="0"/>
          </a:p>
        </p:txBody>
      </p:sp>
      <p:sp>
        <p:nvSpPr>
          <p:cNvPr id="13" name="Shape 9"/>
          <p:cNvSpPr/>
          <p:nvPr/>
        </p:nvSpPr>
        <p:spPr>
          <a:xfrm>
            <a:off x="548640" y="4754880"/>
            <a:ext cx="11064240" cy="0"/>
          </a:xfrm>
          <a:prstGeom prst="line">
            <a:avLst/>
          </a:prstGeom>
          <a:noFill/>
          <a:ln w="9525">
            <a:solidFill>
              <a:srgbClr val="4F8A99">
                <a:alpha val="40000"/>
              </a:srgbClr>
            </a:solidFill>
            <a:prstDash val="solid"/>
          </a:ln>
        </p:spPr>
      </p:sp>
      <p:sp>
        <p:nvSpPr>
          <p:cNvPr id="14" name="Text 10"/>
          <p:cNvSpPr txBox="1"/>
          <p:nvPr/>
        </p:nvSpPr>
        <p:spPr>
          <a:xfrm>
            <a:off x="548640" y="5074920"/>
            <a:ext cx="11064240" cy="822960"/>
          </a:xfrm>
          <a:prstGeom prst="rect">
            <a:avLst/>
          </a:prstGeom>
          <a:noFill/>
          <a:ln/>
        </p:spPr>
        <p:txBody>
          <a:bodyPr wrap="square" lIns="0" tIns="0" rIns="0" bIns="0" rtlCol="0" anchor="ctr"/>
          <a:lstStyle/>
          <a:p>
            <a:pPr algn="ctr" indent="0" marL="0">
              <a:buNone/>
            </a:pPr>
            <a:r>
              <a:rPr lang="en-US" sz="2600" b="1" dirty="0">
                <a:solidFill>
                  <a:srgbClr val="E8873A"/>
                </a:solidFill>
                <a:latin typeface="Cambria" pitchFamily="34" charset="0"/>
                <a:ea typeface="Cambria" pitchFamily="34" charset="-122"/>
                <a:cs typeface="Cambria" pitchFamily="34" charset="-120"/>
              </a:rPr>
              <a:t>Thank You</a:t>
            </a:r>
            <a:endParaRPr lang="en-US" sz="2600" dirty="0"/>
          </a:p>
        </p:txBody>
      </p:sp>
      <p:sp>
        <p:nvSpPr>
          <p:cNvPr id="15" name="Text 11"/>
          <p:cNvSpPr txBox="1"/>
          <p:nvPr/>
        </p:nvSpPr>
        <p:spPr>
          <a:xfrm>
            <a:off x="548640" y="5806440"/>
            <a:ext cx="11064240" cy="457200"/>
          </a:xfrm>
          <a:prstGeom prst="rect">
            <a:avLst/>
          </a:prstGeom>
          <a:noFill/>
          <a:ln/>
        </p:spPr>
        <p:txBody>
          <a:bodyPr wrap="square" lIns="0" tIns="0" rIns="0" bIns="0" rtlCol="0" anchor="ctr"/>
          <a:lstStyle/>
          <a:p>
            <a:pPr algn="ctr" indent="0" marL="0">
              <a:buNone/>
            </a:pPr>
            <a:r>
              <a:rPr lang="en-US" sz="1400" i="1" dirty="0">
                <a:solidFill>
                  <a:srgbClr val="CADCE0"/>
                </a:solidFill>
                <a:latin typeface="Calibri" pitchFamily="34" charset="0"/>
                <a:ea typeface="Calibri" pitchFamily="34" charset="-122"/>
                <a:cs typeface="Calibri" pitchFamily="34" charset="-120"/>
              </a:rPr>
              <a:t>Questions?</a:t>
            </a:r>
            <a:endParaRPr lang="en-US" sz="1400" dirty="0"/>
          </a:p>
        </p:txBody>
      </p:sp>
      <p:sp>
        <p:nvSpPr>
          <p:cNvPr id="16" name="Text 12"/>
          <p:cNvSpPr txBox="1"/>
          <p:nvPr/>
        </p:nvSpPr>
        <p:spPr>
          <a:xfrm>
            <a:off x="457200" y="6519672"/>
            <a:ext cx="8686800" cy="274320"/>
          </a:xfrm>
          <a:prstGeom prst="rect">
            <a:avLst/>
          </a:prstGeom>
          <a:noFill/>
          <a:ln/>
        </p:spPr>
        <p:txBody>
          <a:bodyPr wrap="square" lIns="0" tIns="0" rIns="0" bIns="0" rtlCol="0" anchor="ctr"/>
          <a:lstStyle/>
          <a:p>
            <a:pPr algn="l" indent="0" marL="0">
              <a:buNone/>
            </a:pPr>
            <a:r>
              <a:rPr lang="en-US" sz="1000" dirty="0">
                <a:solidFill>
                  <a:srgbClr val="9FB8BE"/>
                </a:solidFill>
                <a:latin typeface="Calibri" pitchFamily="34" charset="0"/>
                <a:ea typeface="Calibri" pitchFamily="34" charset="-122"/>
                <a:cs typeface="Calibri" pitchFamily="34" charset="-120"/>
              </a:rPr>
              <a:t>Feature Importance Analysis for Air Quality Prediction</a:t>
            </a:r>
            <a:endParaRPr lang="en-US" sz="1000" dirty="0"/>
          </a:p>
        </p:txBody>
      </p:sp>
      <p:sp>
        <p:nvSpPr>
          <p:cNvPr id="17" name="Shape 13"/>
          <p:cNvSpPr/>
          <p:nvPr/>
        </p:nvSpPr>
        <p:spPr>
          <a:xfrm>
            <a:off x="11475720" y="6446520"/>
            <a:ext cx="411480" cy="320040"/>
          </a:xfrm>
          <a:prstGeom prst="rect">
            <a:avLst/>
          </a:prstGeom>
          <a:solidFill>
            <a:srgbClr val="FFFFFF">
              <a:alpha val="10000"/>
            </a:srgbClr>
          </a:solidFill>
          <a:ln/>
        </p:spPr>
      </p:sp>
      <p:sp>
        <p:nvSpPr>
          <p:cNvPr id="18" name="Text 14"/>
          <p:cNvSpPr txBox="1"/>
          <p:nvPr/>
        </p:nvSpPr>
        <p:spPr>
          <a:xfrm>
            <a:off x="11475720" y="6446520"/>
            <a:ext cx="4114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2026-08-31T03:38:23Z</dcterms:created>
  <dcterms:modified xsi:type="dcterms:W3CDTF">2026-08-31T03:38:23Z</dcterms:modified>
</cp:coreProperties>
</file>